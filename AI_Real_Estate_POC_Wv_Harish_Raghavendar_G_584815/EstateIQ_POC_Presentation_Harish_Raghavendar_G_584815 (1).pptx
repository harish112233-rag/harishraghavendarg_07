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charts/chart1.xml" ContentType="application/vnd.openxmlformats-officedocument.drawingml.chart+xml"/>
  <Override PartName="/ppt/notesSlides/notesSlide9.xml" ContentType="application/vnd.openxmlformats-officedocument.presentationml.notesSlide+xml"/>
  <Override PartName="/ppt/charts/chart2.xml" ContentType="application/vnd.openxmlformats-officedocument.drawingml.chart+xml"/>
  <Override PartName="/ppt/notesSlides/notesSlide10.xml" ContentType="application/vnd.openxmlformats-officedocument.presentationml.notesSlide+xml"/>
  <Override PartName="/ppt/charts/chart3.xml" ContentType="application/vnd.openxmlformats-officedocument.drawingml.chart+xml"/>
  <Override PartName="/ppt/notesSlides/notesSlide11.xml" ContentType="application/vnd.openxmlformats-officedocument.presentationml.notesSlide+xml"/>
  <Override PartName="/ppt/charts/chart4.xml" ContentType="application/vnd.openxmlformats-officedocument.drawingml.chart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8" r:id="rId13"/>
    <p:sldId id="269" r:id="rId14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18" d="100"/>
          <a:sy n="118" d="100"/>
        </p:scale>
        <p:origin x="134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Correlation with Price</c:v>
                </c:pt>
              </c:strCache>
            </c:strRef>
          </c:tx>
          <c:spPr>
            <a:solidFill>
              <a:srgbClr val="1C7EA3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3867-4DD3-BC0C-97F748266DAE}"/>
              </c:ext>
            </c:extLst>
          </c:dPt>
          <c:dPt>
            <c:idx val="1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3-3867-4DD3-BC0C-97F748266DAE}"/>
              </c:ext>
            </c:extLst>
          </c:dPt>
          <c:dPt>
            <c:idx val="2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5-3867-4DD3-BC0C-97F748266DAE}"/>
              </c:ext>
            </c:extLst>
          </c:dPt>
          <c:dPt>
            <c:idx val="3"/>
            <c:invertIfNegative val="0"/>
            <c:bubble3D val="0"/>
            <c:spPr>
              <a:solidFill>
                <a:srgbClr val="C0392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3867-4DD3-BC0C-97F748266DAE}"/>
              </c:ext>
            </c:extLst>
          </c:dPt>
          <c:dPt>
            <c:idx val="4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9-3867-4DD3-BC0C-97F748266DAE}"/>
              </c:ext>
            </c:extLst>
          </c:dPt>
          <c:dPt>
            <c:idx val="5"/>
            <c:invertIfNegative val="0"/>
            <c:bubble3D val="0"/>
            <c:spPr>
              <a:solidFill>
                <a:srgbClr val="52B78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B-3867-4DD3-BC0C-97F748266DAE}"/>
              </c:ext>
            </c:extLst>
          </c:dPt>
          <c:dPt>
            <c:idx val="6"/>
            <c:invertIfNegative val="0"/>
            <c:bubble3D val="0"/>
            <c:spPr>
              <a:solidFill>
                <a:srgbClr val="8B9BB4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D-3867-4DD3-BC0C-97F748266DAE}"/>
              </c:ext>
            </c:extLst>
          </c:dPt>
          <c:dPt>
            <c:idx val="7"/>
            <c:invertIfNegative val="0"/>
            <c:bubble3D val="0"/>
            <c:spPr>
              <a:solidFill>
                <a:srgbClr val="8B9BB4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F-3867-4DD3-BC0C-97F748266DAE}"/>
              </c:ext>
            </c:extLst>
          </c:dPt>
          <c:dPt>
            <c:idx val="8"/>
            <c:invertIfNegative val="0"/>
            <c:bubble3D val="0"/>
            <c:spPr>
              <a:solidFill>
                <a:srgbClr val="C8943A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11-3867-4DD3-BC0C-97F748266DAE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1E293B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Sheet1!$A$2:$A$10</c:f>
              <c:strCache>
                <c:ptCount val="9"/>
                <c:pt idx="0">
                  <c:v>area_sqft</c:v>
                </c:pt>
                <c:pt idx="1">
                  <c:v>bedrooms</c:v>
                </c:pt>
                <c:pt idx="2">
                  <c:v>bathrooms</c:v>
                </c:pt>
                <c:pt idx="3">
                  <c:v>building_age</c:v>
                </c:pt>
                <c:pt idx="4">
                  <c:v>parking</c:v>
                </c:pt>
                <c:pt idx="5">
                  <c:v>near_metro</c:v>
                </c:pt>
                <c:pt idx="6">
                  <c:v>gym</c:v>
                </c:pt>
                <c:pt idx="7">
                  <c:v>pool</c:v>
                </c:pt>
                <c:pt idx="8">
                  <c:v>price</c:v>
                </c:pt>
              </c:strCache>
            </c: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82</c:v>
                </c:pt>
                <c:pt idx="1">
                  <c:v>61</c:v>
                </c:pt>
                <c:pt idx="2">
                  <c:v>55</c:v>
                </c:pt>
                <c:pt idx="3">
                  <c:v>-28</c:v>
                </c:pt>
                <c:pt idx="4">
                  <c:v>32</c:v>
                </c:pt>
                <c:pt idx="5">
                  <c:v>45</c:v>
                </c:pt>
                <c:pt idx="6">
                  <c:v>22</c:v>
                </c:pt>
                <c:pt idx="7">
                  <c:v>19</c:v>
                </c:pt>
                <c:pt idx="8">
                  <c:v>100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2-3867-4DD3-BC0C-97F748266DAE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334155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334155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Bangalore</c:v>
                </c:pt>
              </c:strCache>
            </c:strRef>
          </c:tx>
          <c:spPr>
            <a:solidFill>
              <a:srgbClr val="C8943A"/>
            </a:solidFill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500–1500</c:v>
                </c:pt>
                <c:pt idx="1">
                  <c:v>1500–2500</c:v>
                </c:pt>
                <c:pt idx="2">
                  <c:v>2500–4000</c:v>
                </c:pt>
                <c:pt idx="3">
                  <c:v>4000–7000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2800000</c:v>
                </c:pt>
                <c:pt idx="1">
                  <c:v>4500000</c:v>
                </c:pt>
                <c:pt idx="2">
                  <c:v>7200000</c:v>
                </c:pt>
                <c:pt idx="3">
                  <c:v>11000000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51F9-40B4-BFFF-CA5203912F29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Mumbai</c:v>
                </c:pt>
              </c:strCache>
            </c:strRef>
          </c:tx>
          <c:spPr>
            <a:solidFill>
              <a:srgbClr val="1C7EA3"/>
            </a:solidFill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500–1500</c:v>
                </c:pt>
                <c:pt idx="1">
                  <c:v>1500–2500</c:v>
                </c:pt>
                <c:pt idx="2">
                  <c:v>2500–4000</c:v>
                </c:pt>
                <c:pt idx="3">
                  <c:v>4000–7000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5500000</c:v>
                </c:pt>
                <c:pt idx="1">
                  <c:v>9000000</c:v>
                </c:pt>
                <c:pt idx="2">
                  <c:v>14000000</c:v>
                </c:pt>
                <c:pt idx="3">
                  <c:v>21000000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51F9-40B4-BFFF-CA5203912F29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Delhi</c:v>
                </c:pt>
              </c:strCache>
            </c:strRef>
          </c:tx>
          <c:spPr>
            <a:solidFill>
              <a:srgbClr val="52B788"/>
            </a:solidFill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500–1500</c:v>
                </c:pt>
                <c:pt idx="1">
                  <c:v>1500–2500</c:v>
                </c:pt>
                <c:pt idx="2">
                  <c:v>2500–4000</c:v>
                </c:pt>
                <c:pt idx="3">
                  <c:v>4000–7000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4800000</c:v>
                </c:pt>
                <c:pt idx="1">
                  <c:v>8000000</c:v>
                </c:pt>
                <c:pt idx="2">
                  <c:v>12500000</c:v>
                </c:pt>
                <c:pt idx="3">
                  <c:v>19000000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51F9-40B4-BFFF-CA5203912F29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Hyderabad</c:v>
                </c:pt>
              </c:strCache>
            </c:strRef>
          </c:tx>
          <c:spPr>
            <a:solidFill>
              <a:srgbClr val="E8B96A"/>
            </a:solidFill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500–1500</c:v>
                </c:pt>
                <c:pt idx="1">
                  <c:v>1500–2500</c:v>
                </c:pt>
                <c:pt idx="2">
                  <c:v>2500–4000</c:v>
                </c:pt>
                <c:pt idx="3">
                  <c:v>4000–7000</c:v>
                </c:pt>
              </c:strCache>
            </c:strRef>
          </c:cat>
          <c:val>
            <c:numRef>
              <c:f>Sheet1!$E$2:$E$5</c:f>
              <c:numCache>
                <c:formatCode>General</c:formatCode>
                <c:ptCount val="4"/>
                <c:pt idx="0">
                  <c:v>2500000</c:v>
                </c:pt>
                <c:pt idx="1">
                  <c:v>4000000</c:v>
                </c:pt>
                <c:pt idx="2">
                  <c:v>6500000</c:v>
                </c:pt>
                <c:pt idx="3">
                  <c:v>9800000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51F9-40B4-BFFF-CA5203912F29}"/>
            </c:ext>
          </c:extLst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Chennai</c:v>
                </c:pt>
              </c:strCache>
            </c:strRef>
          </c:tx>
          <c:spPr>
            <a:solidFill>
              <a:srgbClr val="4DB8D0"/>
            </a:solidFill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500–1500</c:v>
                </c:pt>
                <c:pt idx="1">
                  <c:v>1500–2500</c:v>
                </c:pt>
                <c:pt idx="2">
                  <c:v>2500–4000</c:v>
                </c:pt>
                <c:pt idx="3">
                  <c:v>4000–7000</c:v>
                </c:pt>
              </c:strCache>
            </c:strRef>
          </c:cat>
          <c:val>
            <c:numRef>
              <c:f>Sheet1!$F$2:$F$5</c:f>
              <c:numCache>
                <c:formatCode>General</c:formatCode>
                <c:ptCount val="4"/>
                <c:pt idx="0">
                  <c:v>2200000</c:v>
                </c:pt>
                <c:pt idx="1">
                  <c:v>3800000</c:v>
                </c:pt>
                <c:pt idx="2">
                  <c:v>6000000</c:v>
                </c:pt>
                <c:pt idx="3">
                  <c:v>9200000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51F9-40B4-BFFF-CA5203912F29}"/>
            </c:ext>
          </c:extLst>
        </c:ser>
        <c:ser>
          <c:idx val="5"/>
          <c:order val="5"/>
          <c:tx>
            <c:strRef>
              <c:f>Sheet1!$G$1</c:f>
              <c:strCache>
                <c:ptCount val="1"/>
                <c:pt idx="0">
                  <c:v>Pune</c:v>
                </c:pt>
              </c:strCache>
            </c:strRef>
          </c:tx>
          <c:spPr>
            <a:solidFill>
              <a:srgbClr val="8B9BB4"/>
            </a:solidFill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500–1500</c:v>
                </c:pt>
                <c:pt idx="1">
                  <c:v>1500–2500</c:v>
                </c:pt>
                <c:pt idx="2">
                  <c:v>2500–4000</c:v>
                </c:pt>
                <c:pt idx="3">
                  <c:v>4000–7000</c:v>
                </c:pt>
              </c:strCache>
            </c:strRef>
          </c:cat>
          <c:val>
            <c:numRef>
              <c:f>Sheet1!$G$2:$G$5</c:f>
              <c:numCache>
                <c:formatCode>General</c:formatCode>
                <c:ptCount val="4"/>
                <c:pt idx="0">
                  <c:v>2000000</c:v>
                </c:pt>
                <c:pt idx="1">
                  <c:v>3500000</c:v>
                </c:pt>
                <c:pt idx="2">
                  <c:v>5500000</c:v>
                </c:pt>
                <c:pt idx="3">
                  <c:v>8500000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5-51F9-40B4-BFFF-CA5203912F2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8B9BB4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1A3A6B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8B9BB4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span"/>
    <c:showDLblsOverMax val="1"/>
  </c:chart>
  <c:spPr>
    <a:solidFill>
      <a:srgbClr val="0F1E35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Avg Price (₹M)</c:v>
                </c:pt>
              </c:strCache>
            </c:strRef>
          </c:tx>
          <c:spPr>
            <a:solidFill>
              <a:srgbClr val="C8943A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930B-43E6-B68B-586419032CAD}"/>
              </c:ext>
            </c:extLst>
          </c:dPt>
          <c:dPt>
            <c:idx val="1"/>
            <c:invertIfNegative val="0"/>
            <c:bubble3D val="0"/>
            <c:spPr>
              <a:solidFill>
                <a:srgbClr val="1C7EA3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930B-43E6-B68B-586419032CAD}"/>
              </c:ext>
            </c:extLst>
          </c:dPt>
          <c:dPt>
            <c:idx val="2"/>
            <c:invertIfNegative val="0"/>
            <c:bubble3D val="0"/>
            <c:spPr>
              <a:solidFill>
                <a:srgbClr val="52B78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930B-43E6-B68B-586419032CAD}"/>
              </c:ext>
            </c:extLst>
          </c:dPt>
          <c:dPt>
            <c:idx val="3"/>
            <c:invertIfNegative val="0"/>
            <c:bubble3D val="0"/>
            <c:spPr>
              <a:solidFill>
                <a:srgbClr val="E8B96A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930B-43E6-B68B-586419032CAD}"/>
              </c:ext>
            </c:extLst>
          </c:dPt>
          <c:dPt>
            <c:idx val="4"/>
            <c:invertIfNegative val="0"/>
            <c:bubble3D val="0"/>
            <c:spPr>
              <a:solidFill>
                <a:srgbClr val="4DB8D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930B-43E6-B68B-586419032CAD}"/>
              </c:ext>
            </c:extLst>
          </c:dPt>
          <c:dPt>
            <c:idx val="5"/>
            <c:invertIfNegative val="0"/>
            <c:bubble3D val="0"/>
            <c:spPr>
              <a:solidFill>
                <a:srgbClr val="8B9BB4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B-930B-43E6-B68B-586419032CAD}"/>
              </c:ext>
            </c:extLst>
          </c:dPt>
          <c:cat>
            <c:strRef>
              <c:f>Sheet1!$A$2:$A$7</c:f>
              <c:strCache>
                <c:ptCount val="6"/>
                <c:pt idx="0">
                  <c:v>Bengaluru</c:v>
                </c:pt>
                <c:pt idx="1">
                  <c:v>Chennai</c:v>
                </c:pt>
                <c:pt idx="2">
                  <c:v>Hyderabad</c:v>
                </c:pt>
                <c:pt idx="3">
                  <c:v>Mumbai</c:v>
                </c:pt>
                <c:pt idx="4">
                  <c:v>Delhi</c:v>
                </c:pt>
                <c:pt idx="5">
                  <c:v>Pune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4.5</c:v>
                </c:pt>
                <c:pt idx="1">
                  <c:v>3.8</c:v>
                </c:pt>
                <c:pt idx="2">
                  <c:v>4</c:v>
                </c:pt>
                <c:pt idx="3">
                  <c:v>9</c:v>
                </c:pt>
                <c:pt idx="4">
                  <c:v>8</c:v>
                </c:pt>
                <c:pt idx="5">
                  <c:v>3.5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C-930B-43E6-B68B-586419032CA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8B9BB4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5080" cap="flat">
              <a:solidFill>
                <a:srgbClr val="1A3A6B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8B9BB4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111827"/>
    </a:solidFill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R² Score</c:v>
                </c:pt>
              </c:strCache>
            </c:strRef>
          </c:tx>
          <c:spPr>
            <a:solidFill>
              <a:srgbClr val="8B9BB4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8D9C-44B2-BEEF-B720864A817C}"/>
              </c:ext>
            </c:extLst>
          </c:dPt>
          <c:dPt>
            <c:idx val="1"/>
            <c:invertIfNegative val="0"/>
            <c:bubble3D val="0"/>
            <c:spPr>
              <a:solidFill>
                <a:srgbClr val="1C7EA3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8D9C-44B2-BEEF-B720864A817C}"/>
              </c:ext>
            </c:extLst>
          </c:dPt>
          <c:dPt>
            <c:idx val="2"/>
            <c:invertIfNegative val="0"/>
            <c:bubble3D val="0"/>
            <c:spPr>
              <a:solidFill>
                <a:srgbClr val="C8943A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8D9C-44B2-BEEF-B720864A817C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FFFFFF"/>
                    </a:solidFill>
                    <a:latin typeface="Arial"/>
                  </a:defRPr>
                </a:pPr>
                <a:endParaRPr lang="en-US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Linear
Regression</c:v>
                </c:pt>
                <c:pt idx="1">
                  <c:v>Decision
Tree</c:v>
                </c:pt>
                <c:pt idx="2">
                  <c:v>Random
Forest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68</c:v>
                </c:pt>
                <c:pt idx="1">
                  <c:v>82</c:v>
                </c:pt>
                <c:pt idx="2">
                  <c:v>96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8D9C-44B2-BEEF-B720864A817C}"/>
            </c:ext>
          </c:extLst>
        </c:ser>
        <c:dLbls>
          <c:dLblPos val="inEnd"/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8B9BB4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5080" cap="flat">
              <a:solidFill>
                <a:srgbClr val="1A3A6B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8B9BB4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0F1E35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8247702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.xm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80D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097280" y="-1097280"/>
            <a:ext cx="4572000" cy="4572000"/>
          </a:xfrm>
          <a:prstGeom prst="ellipse">
            <a:avLst/>
          </a:prstGeom>
          <a:solidFill>
            <a:srgbClr val="112D5E">
              <a:alpha val="22000"/>
            </a:srgbClr>
          </a:solidFill>
          <a:ln w="12700">
            <a:solidFill>
              <a:srgbClr val="112D5E">
                <a:alpha val="22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766560" y="2377440"/>
            <a:ext cx="3657600" cy="3657600"/>
          </a:xfrm>
          <a:prstGeom prst="ellipse">
            <a:avLst/>
          </a:prstGeom>
          <a:solidFill>
            <a:srgbClr val="C8943A">
              <a:alpha val="12000"/>
            </a:srgbClr>
          </a:solidFill>
          <a:ln w="12700">
            <a:solidFill>
              <a:srgbClr val="C8943A">
                <a:alpha val="12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863840" y="-365760"/>
            <a:ext cx="2011680" cy="2011680"/>
          </a:xfrm>
          <a:prstGeom prst="ellipse">
            <a:avLst/>
          </a:prstGeom>
          <a:solidFill>
            <a:srgbClr val="2D6A4F">
              <a:alpha val="20000"/>
            </a:srgbClr>
          </a:solidFill>
          <a:ln w="12700">
            <a:solidFill>
              <a:srgbClr val="2D6A4F">
                <a:alpha val="2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097280"/>
            <a:ext cx="50292" cy="2834640"/>
          </a:xfrm>
          <a:prstGeom prst="rect">
            <a:avLst/>
          </a:prstGeom>
          <a:solidFill>
            <a:srgbClr val="00B0F0"/>
          </a:solidFill>
          <a:ln w="12700">
            <a:solidFill>
              <a:srgbClr val="C8943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49808" y="1057397"/>
            <a:ext cx="1787457" cy="256032"/>
          </a:xfrm>
          <a:prstGeom prst="rect">
            <a:avLst/>
          </a:prstGeom>
          <a:solidFill>
            <a:srgbClr val="00B0F0"/>
          </a:solidFill>
          <a:ln w="12700">
            <a:solidFill>
              <a:srgbClr val="C8943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58368" y="1051560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kern="0" spc="200" dirty="0">
                <a:solidFill>
                  <a:srgbClr val="080D1A"/>
                </a:solidFill>
              </a:rPr>
              <a:t>MACHINE LEARNING PROJECT</a:t>
            </a:r>
            <a:endParaRPr lang="en-US" sz="700" dirty="0"/>
          </a:p>
        </p:txBody>
      </p:sp>
      <p:sp>
        <p:nvSpPr>
          <p:cNvPr id="8" name="Text 6"/>
          <p:cNvSpPr/>
          <p:nvPr/>
        </p:nvSpPr>
        <p:spPr>
          <a:xfrm>
            <a:off x="658368" y="1371600"/>
            <a:ext cx="621792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Based Real Estate</a:t>
            </a:r>
            <a:endParaRPr lang="en-US" sz="42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4200" b="1" dirty="0">
                <a:solidFill>
                  <a:schemeClr val="accent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Valuation System</a:t>
            </a:r>
            <a:endParaRPr lang="en-US" sz="4200" dirty="0">
              <a:solidFill>
                <a:schemeClr val="accent5"/>
              </a:solidFill>
            </a:endParaRPr>
          </a:p>
        </p:txBody>
      </p:sp>
      <p:sp>
        <p:nvSpPr>
          <p:cNvPr id="9" name="Text 7"/>
          <p:cNvSpPr/>
          <p:nvPr/>
        </p:nvSpPr>
        <p:spPr>
          <a:xfrm>
            <a:off x="658368" y="3218688"/>
            <a:ext cx="6583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chemeClr val="accent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 ·  scikit-learn  ·  Streamlit  ·  Plotly  ·  seaborn  ·  Random Forest</a:t>
            </a:r>
            <a:endParaRPr lang="en-US" sz="1100" dirty="0">
              <a:solidFill>
                <a:schemeClr val="accent5"/>
              </a:solidFill>
            </a:endParaRPr>
          </a:p>
        </p:txBody>
      </p:sp>
      <p:sp>
        <p:nvSpPr>
          <p:cNvPr id="10" name="Shape 8"/>
          <p:cNvSpPr/>
          <p:nvPr/>
        </p:nvSpPr>
        <p:spPr>
          <a:xfrm>
            <a:off x="0" y="4526280"/>
            <a:ext cx="9144000" cy="621792"/>
          </a:xfrm>
          <a:prstGeom prst="rect">
            <a:avLst/>
          </a:prstGeom>
          <a:solidFill>
            <a:srgbClr val="112D5E"/>
          </a:solidFill>
          <a:ln w="12700">
            <a:solidFill>
              <a:srgbClr val="112D5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5760" y="4544568"/>
            <a:ext cx="84124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D1D9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Indian Metro Housing Dataset  ·  Bangalore · Chennai · Hyderabad · Mumbai · Delhi · Pune 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858000" y="658368"/>
            <a:ext cx="1920240" cy="987552"/>
          </a:xfrm>
          <a:prstGeom prst="rect">
            <a:avLst/>
          </a:prstGeom>
          <a:solidFill>
            <a:srgbClr val="FFFFFF"/>
          </a:solidFill>
          <a:ln w="6350">
            <a:solidFill>
              <a:srgbClr val="E0E6F0"/>
            </a:solidFill>
            <a:prstDash val="solid"/>
          </a:ln>
          <a:effectLst>
            <a:outerShdw blurRad="889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858000" y="658368"/>
            <a:ext cx="1920240" cy="50292"/>
          </a:xfrm>
          <a:prstGeom prst="rect">
            <a:avLst/>
          </a:prstGeom>
          <a:solidFill>
            <a:srgbClr val="C8943A"/>
          </a:solidFill>
          <a:ln w="12700">
            <a:solidFill>
              <a:srgbClr val="C8943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949440" y="804672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C894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6949440" y="1316736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Indian Cities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6858000" y="1755648"/>
            <a:ext cx="1920240" cy="987552"/>
          </a:xfrm>
          <a:prstGeom prst="rect">
            <a:avLst/>
          </a:prstGeom>
          <a:solidFill>
            <a:srgbClr val="FFFFFF"/>
          </a:solidFill>
          <a:ln w="6350">
            <a:solidFill>
              <a:srgbClr val="E0E6F0"/>
            </a:solidFill>
            <a:prstDash val="solid"/>
          </a:ln>
          <a:effectLst>
            <a:outerShdw blurRad="889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858000" y="1755648"/>
            <a:ext cx="1920240" cy="50292"/>
          </a:xfrm>
          <a:prstGeom prst="rect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949440" y="1901952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2D6A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10K+</a:t>
            </a:r>
            <a:endParaRPr lang="en-US" sz="2600" dirty="0"/>
          </a:p>
        </p:txBody>
      </p:sp>
      <p:sp>
        <p:nvSpPr>
          <p:cNvPr id="19" name="Text 17"/>
          <p:cNvSpPr/>
          <p:nvPr/>
        </p:nvSpPr>
        <p:spPr>
          <a:xfrm>
            <a:off x="6949440" y="2414016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Records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6858000" y="2852928"/>
            <a:ext cx="1920240" cy="987552"/>
          </a:xfrm>
          <a:prstGeom prst="rect">
            <a:avLst/>
          </a:prstGeom>
          <a:solidFill>
            <a:srgbClr val="FFFFFF"/>
          </a:solidFill>
          <a:ln w="6350">
            <a:solidFill>
              <a:srgbClr val="E0E6F0"/>
            </a:solidFill>
            <a:prstDash val="solid"/>
          </a:ln>
          <a:effectLst>
            <a:outerShdw blurRad="889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858000" y="2852928"/>
            <a:ext cx="1920240" cy="50292"/>
          </a:xfrm>
          <a:prstGeom prst="rect">
            <a:avLst/>
          </a:prstGeom>
          <a:solidFill>
            <a:srgbClr val="1C7EA3"/>
          </a:solidFill>
          <a:ln w="12700">
            <a:solidFill>
              <a:srgbClr val="1C7EA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949440" y="2999232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1C7EA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R²&gt;0.95</a:t>
            </a:r>
            <a:endParaRPr lang="en-US" sz="2600" dirty="0"/>
          </a:p>
        </p:txBody>
      </p:sp>
      <p:sp>
        <p:nvSpPr>
          <p:cNvPr id="23" name="Text 21"/>
          <p:cNvSpPr/>
          <p:nvPr/>
        </p:nvSpPr>
        <p:spPr>
          <a:xfrm>
            <a:off x="6949440" y="3511296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72400" y="-457200"/>
            <a:ext cx="2286000" cy="2286000"/>
          </a:xfrm>
          <a:prstGeom prst="ellipse">
            <a:avLst/>
          </a:prstGeom>
          <a:solidFill>
            <a:srgbClr val="112D5E">
              <a:alpha val="25000"/>
            </a:srgbClr>
          </a:solidFill>
          <a:ln w="12700">
            <a:solidFill>
              <a:srgbClr val="112D5E">
                <a:alpha val="2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229600" y="182880"/>
            <a:ext cx="1371600" cy="1371600"/>
          </a:xfrm>
          <a:prstGeom prst="ellipse">
            <a:avLst/>
          </a:prstGeom>
          <a:solidFill>
            <a:srgbClr val="C8943A">
              <a:alpha val="20000"/>
            </a:srgbClr>
          </a:solidFill>
          <a:ln w="12700">
            <a:solidFill>
              <a:srgbClr val="C8943A">
                <a:alpha val="2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274320"/>
            <a:ext cx="1188720" cy="256032"/>
          </a:xfrm>
          <a:prstGeom prst="rect">
            <a:avLst/>
          </a:prstGeom>
          <a:solidFill>
            <a:srgbClr val="112D5E"/>
          </a:solidFill>
          <a:ln w="12700">
            <a:solidFill>
              <a:srgbClr val="112D5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274320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kern="0" spc="200" dirty="0">
                <a:solidFill>
                  <a:srgbClr val="080D1A"/>
                </a:solidFill>
              </a:rPr>
              <a:t>OVERVIEW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457200" y="594360"/>
            <a:ext cx="54864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D1B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 Statement</a:t>
            </a:r>
            <a:endParaRPr lang="en-US" sz="3200" dirty="0"/>
          </a:p>
        </p:txBody>
      </p:sp>
      <p:sp>
        <p:nvSpPr>
          <p:cNvPr id="7" name="Shape 5"/>
          <p:cNvSpPr/>
          <p:nvPr/>
        </p:nvSpPr>
        <p:spPr>
          <a:xfrm>
            <a:off x="457200" y="1389888"/>
            <a:ext cx="4389120" cy="315468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  <a:effectLst>
            <a:outerShdw blurRad="177800" dist="508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57200" y="1389888"/>
            <a:ext cx="4389120" cy="54864"/>
          </a:xfrm>
          <a:prstGeom prst="rect">
            <a:avLst/>
          </a:prstGeom>
          <a:solidFill>
            <a:srgbClr val="C8943A"/>
          </a:solidFill>
          <a:ln w="12700">
            <a:solidFill>
              <a:srgbClr val="C8943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1508760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8B9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Challenge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40080" y="1965960"/>
            <a:ext cx="3931920" cy="2468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D1D9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Traditional real estate valuation in Indian metro cities is:</a:t>
            </a:r>
            <a:endParaRPr lang="en-US" sz="12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Subjective — depends on broker experience</a:t>
            </a:r>
            <a:endParaRPr lang="en-US" sz="12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Slow — manual visits and market research</a:t>
            </a:r>
            <a:endParaRPr lang="en-US" sz="12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Inconsistent — varies by city and locality</a:t>
            </a:r>
            <a:endParaRPr lang="en-US" sz="12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Lacks feature analysis (metro, gym, pool…)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120640" y="1389888"/>
            <a:ext cx="3657600" cy="950976"/>
          </a:xfrm>
          <a:prstGeom prst="rect">
            <a:avLst/>
          </a:prstGeom>
          <a:solidFill>
            <a:srgbClr val="FFFFFF"/>
          </a:solidFill>
          <a:ln w="6350">
            <a:solidFill>
              <a:srgbClr val="E0E6F0"/>
            </a:solidFill>
            <a:prstDash val="solid"/>
          </a:ln>
          <a:effectLst>
            <a:outerShdw blurRad="889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5120640" y="1389888"/>
            <a:ext cx="59436" cy="950976"/>
          </a:xfrm>
          <a:prstGeom prst="rect">
            <a:avLst/>
          </a:prstGeom>
          <a:solidFill>
            <a:srgbClr val="C8943A"/>
          </a:solidFill>
          <a:ln w="12700">
            <a:solidFill>
              <a:srgbClr val="C8943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266944" y="1627632"/>
            <a:ext cx="475488" cy="475488"/>
          </a:xfrm>
          <a:prstGeom prst="ellipse">
            <a:avLst/>
          </a:prstGeom>
          <a:solidFill>
            <a:srgbClr val="C8943A"/>
          </a:solidFill>
          <a:ln w="12700">
            <a:solidFill>
              <a:srgbClr val="C8943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276088" y="1645920"/>
            <a:ext cx="457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💸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5870448" y="1481328"/>
            <a:ext cx="27432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 Inaccuracy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870448" y="1810512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950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Buyers overpay by 15–30% without data-driven benchmark pricing.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5120640" y="2459736"/>
            <a:ext cx="3657600" cy="950976"/>
          </a:xfrm>
          <a:prstGeom prst="rect">
            <a:avLst/>
          </a:prstGeom>
          <a:solidFill>
            <a:srgbClr val="FFFFFF"/>
          </a:solidFill>
          <a:ln w="6350">
            <a:solidFill>
              <a:srgbClr val="E0E6F0"/>
            </a:solidFill>
            <a:prstDash val="solid"/>
          </a:ln>
          <a:effectLst>
            <a:outerShdw blurRad="889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5120640" y="2459736"/>
            <a:ext cx="59436" cy="950976"/>
          </a:xfrm>
          <a:prstGeom prst="rect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266944" y="2697480"/>
            <a:ext cx="475488" cy="475488"/>
          </a:xfrm>
          <a:prstGeom prst="ellipse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276088" y="2715768"/>
            <a:ext cx="457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⏱️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5870448" y="2551176"/>
            <a:ext cx="27432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Inefficiency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5870448" y="288036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950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appraisal takes days; slows mortgage and investment decisions.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5120640" y="3529584"/>
            <a:ext cx="3657600" cy="950976"/>
          </a:xfrm>
          <a:prstGeom prst="rect">
            <a:avLst/>
          </a:prstGeom>
          <a:solidFill>
            <a:srgbClr val="FFFFFF"/>
          </a:solidFill>
          <a:ln w="6350">
            <a:solidFill>
              <a:srgbClr val="E0E6F0"/>
            </a:solidFill>
            <a:prstDash val="solid"/>
          </a:ln>
          <a:effectLst>
            <a:outerShdw blurRad="889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5120640" y="3529584"/>
            <a:ext cx="59436" cy="950976"/>
          </a:xfrm>
          <a:prstGeom prst="rect">
            <a:avLst/>
          </a:prstGeom>
          <a:solidFill>
            <a:srgbClr val="1C7EA3"/>
          </a:solidFill>
          <a:ln w="12700">
            <a:solidFill>
              <a:srgbClr val="1C7EA3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266944" y="3767328"/>
            <a:ext cx="475488" cy="475488"/>
          </a:xfrm>
          <a:prstGeom prst="ellipse">
            <a:avLst/>
          </a:prstGeom>
          <a:solidFill>
            <a:srgbClr val="1C7EA3"/>
          </a:solidFill>
          <a:ln w="12700">
            <a:solidFill>
              <a:srgbClr val="1C7EA3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276088" y="3785616"/>
            <a:ext cx="457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📊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5870448" y="3621024"/>
            <a:ext cx="27432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Market Insights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5870448" y="3950208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950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real-time analytics on city-wise pricing, area trends, or amenity premiums.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B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2926080"/>
            <a:ext cx="4114800" cy="4114800"/>
          </a:xfrm>
          <a:prstGeom prst="ellipse">
            <a:avLst/>
          </a:prstGeom>
          <a:solidFill>
            <a:srgbClr val="112D5E">
              <a:alpha val="35000"/>
            </a:srgbClr>
          </a:solidFill>
          <a:ln w="12700">
            <a:solidFill>
              <a:srgbClr val="112D5E">
                <a:alpha val="3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457200" y="3200400"/>
            <a:ext cx="2743200" cy="2743200"/>
          </a:xfrm>
          <a:prstGeom prst="ellipse">
            <a:avLst/>
          </a:prstGeom>
          <a:solidFill>
            <a:srgbClr val="C8943A">
              <a:alpha val="10000"/>
            </a:srgbClr>
          </a:solidFill>
          <a:ln w="12700">
            <a:solidFill>
              <a:srgbClr val="C8943A">
                <a:alpha val="1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256032"/>
            <a:ext cx="1005840" cy="256032"/>
          </a:xfrm>
          <a:prstGeom prst="rect">
            <a:avLst/>
          </a:prstGeom>
          <a:solidFill>
            <a:srgbClr val="C8943A"/>
          </a:solidFill>
          <a:ln w="12700">
            <a:solidFill>
              <a:srgbClr val="C8943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256032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kern="0" spc="200" dirty="0">
                <a:solidFill>
                  <a:srgbClr val="080D1A"/>
                </a:solidFill>
              </a:rPr>
              <a:t>GOALS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457200" y="566928"/>
            <a:ext cx="64008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Objectives</a:t>
            </a:r>
            <a:endParaRPr lang="en-US" sz="3200" dirty="0"/>
          </a:p>
        </p:txBody>
      </p:sp>
      <p:sp>
        <p:nvSpPr>
          <p:cNvPr id="7" name="Shape 5"/>
          <p:cNvSpPr/>
          <p:nvPr/>
        </p:nvSpPr>
        <p:spPr>
          <a:xfrm>
            <a:off x="411480" y="1389888"/>
            <a:ext cx="4069080" cy="1261872"/>
          </a:xfrm>
          <a:prstGeom prst="rect">
            <a:avLst/>
          </a:prstGeom>
          <a:solidFill>
            <a:srgbClr val="0F1E3D"/>
          </a:solidFill>
          <a:ln w="8890">
            <a:solidFill>
              <a:srgbClr val="C8943A"/>
            </a:solidFill>
            <a:prstDash val="solid"/>
          </a:ln>
          <a:effectLst>
            <a:outerShdw blurRad="889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576072" y="1572768"/>
            <a:ext cx="420624" cy="420624"/>
          </a:xfrm>
          <a:prstGeom prst="ellipse">
            <a:avLst/>
          </a:prstGeom>
          <a:solidFill>
            <a:srgbClr val="C8943A"/>
          </a:solidFill>
          <a:ln w="12700">
            <a:solidFill>
              <a:srgbClr val="C8943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76072" y="157276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80D1A"/>
                </a:solidFill>
              </a:rPr>
              <a:t>01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124712" y="1508760"/>
            <a:ext cx="321868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89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 Prediction Engine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124712" y="1865376"/>
            <a:ext cx="3218688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8000"/>
              </a:lnSpc>
              <a:buNone/>
            </a:pPr>
            <a:r>
              <a:rPr lang="en-US" sz="950" dirty="0">
                <a:solidFill>
                  <a:srgbClr val="D1D9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Random Forest (200 trees, depth 18) on Indian metro housing data for accurate price estimates in ₹.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411480" y="2834640"/>
            <a:ext cx="4069080" cy="1261872"/>
          </a:xfrm>
          <a:prstGeom prst="rect">
            <a:avLst/>
          </a:prstGeom>
          <a:solidFill>
            <a:srgbClr val="0F1E3D"/>
          </a:solidFill>
          <a:ln w="8890">
            <a:solidFill>
              <a:srgbClr val="52B788"/>
            </a:solidFill>
            <a:prstDash val="solid"/>
          </a:ln>
          <a:effectLst>
            <a:outerShdw blurRad="889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576072" y="3017520"/>
            <a:ext cx="420624" cy="420624"/>
          </a:xfrm>
          <a:prstGeom prst="ellipse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76072" y="301752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80D1A"/>
                </a:solidFill>
              </a:rPr>
              <a:t>02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1124712" y="2953512"/>
            <a:ext cx="321868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52B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Exploratory Data Analysis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124712" y="3310128"/>
            <a:ext cx="3218688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8000"/>
              </a:lnSpc>
              <a:buNone/>
            </a:pPr>
            <a:r>
              <a:rPr lang="en-US" sz="950" dirty="0">
                <a:solidFill>
                  <a:srgbClr val="D1D9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Correlation heatmaps, scatter plots, city-wise distributions using seaborn and matplotlib. Exported to /output/.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4754880" y="1389888"/>
            <a:ext cx="4069080" cy="1261872"/>
          </a:xfrm>
          <a:prstGeom prst="rect">
            <a:avLst/>
          </a:prstGeom>
          <a:solidFill>
            <a:srgbClr val="0F1E3D"/>
          </a:solidFill>
          <a:ln w="8890">
            <a:solidFill>
              <a:srgbClr val="4DB8D0"/>
            </a:solidFill>
            <a:prstDash val="solid"/>
          </a:ln>
          <a:effectLst>
            <a:outerShdw blurRad="889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919472" y="1572768"/>
            <a:ext cx="420624" cy="420624"/>
          </a:xfrm>
          <a:prstGeom prst="ellipse">
            <a:avLst/>
          </a:prstGeom>
          <a:solidFill>
            <a:srgbClr val="4DB8D0"/>
          </a:solidFill>
          <a:ln w="12700">
            <a:solidFill>
              <a:srgbClr val="4DB8D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919472" y="157276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80D1A"/>
                </a:solidFill>
              </a:rPr>
              <a:t>03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468112" y="1508760"/>
            <a:ext cx="321868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4DB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 Web Application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468112" y="1865376"/>
            <a:ext cx="3218688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8000"/>
              </a:lnSpc>
              <a:buNone/>
            </a:pPr>
            <a:r>
              <a:rPr lang="en-US" sz="950" dirty="0">
                <a:solidFill>
                  <a:srgbClr val="D1D9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5-page interactive dashboard with live price predictor, Plotly charts, and model metrics display.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4754880" y="2834640"/>
            <a:ext cx="4069080" cy="1261872"/>
          </a:xfrm>
          <a:prstGeom prst="rect">
            <a:avLst/>
          </a:prstGeom>
          <a:solidFill>
            <a:srgbClr val="0F1E3D"/>
          </a:solidFill>
          <a:ln w="8890">
            <a:solidFill>
              <a:srgbClr val="E8B96A"/>
            </a:solidFill>
            <a:prstDash val="solid"/>
          </a:ln>
          <a:effectLst>
            <a:outerShdw blurRad="889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919472" y="3017520"/>
            <a:ext cx="420624" cy="420624"/>
          </a:xfrm>
          <a:prstGeom prst="ellipse">
            <a:avLst/>
          </a:prstGeom>
          <a:solidFill>
            <a:srgbClr val="E8B96A"/>
          </a:solidFill>
          <a:ln w="12700">
            <a:solidFill>
              <a:srgbClr val="E8B96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919472" y="301752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80D1A"/>
                </a:solidFill>
              </a:rPr>
              <a:t>04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5468112" y="2953512"/>
            <a:ext cx="321868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8B9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Evaluation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5468112" y="3310128"/>
            <a:ext cx="3218688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8000"/>
              </a:lnSpc>
              <a:buNone/>
            </a:pPr>
            <a:r>
              <a:rPr lang="en-US" sz="950" dirty="0">
                <a:solidFill>
                  <a:srgbClr val="D1D9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 MAE, RMSE, and R² on 20% test split. Save metrics to model_metrics.txt and model to .pkl file.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863840" y="-457200"/>
            <a:ext cx="2011680" cy="2011680"/>
          </a:xfrm>
          <a:prstGeom prst="ellipse">
            <a:avLst/>
          </a:prstGeom>
          <a:solidFill>
            <a:srgbClr val="112D5E">
              <a:alpha val="25000"/>
            </a:srgbClr>
          </a:solidFill>
          <a:ln w="12700">
            <a:solidFill>
              <a:srgbClr val="112D5E">
                <a:alpha val="2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321040" y="274320"/>
            <a:ext cx="1280160" cy="1280160"/>
          </a:xfrm>
          <a:prstGeom prst="ellipse">
            <a:avLst/>
          </a:prstGeom>
          <a:solidFill>
            <a:srgbClr val="C8943A">
              <a:alpha val="20000"/>
            </a:srgbClr>
          </a:solidFill>
          <a:ln w="12700">
            <a:solidFill>
              <a:srgbClr val="C8943A">
                <a:alpha val="2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274320"/>
            <a:ext cx="1371600" cy="256032"/>
          </a:xfrm>
          <a:prstGeom prst="rect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274320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kern="0" spc="200" dirty="0">
                <a:solidFill>
                  <a:srgbClr val="080D1A"/>
                </a:solidFill>
              </a:rPr>
              <a:t>ARCHITECTURE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457200" y="594360"/>
            <a:ext cx="64008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D1B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Structure &amp; Dataset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457200" y="1389888"/>
            <a:ext cx="4114800" cy="315468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  <a:effectLst>
            <a:outerShdw blurRad="177800" dist="508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57200" y="1389888"/>
            <a:ext cx="4114800" cy="54864"/>
          </a:xfrm>
          <a:prstGeom prst="rect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1508760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52B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📁  Folder Structure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94360" y="1938528"/>
            <a:ext cx="3840480" cy="2487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42000"/>
              </a:lnSpc>
              <a:buNone/>
            </a:pPr>
            <a:r>
              <a:rPr lang="en-US" sz="800" dirty="0">
                <a:solidFill>
                  <a:srgbClr val="D1D9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AI_Real_Estate_Valuation_System/</a:t>
            </a:r>
            <a:endParaRPr lang="en-US" sz="800" dirty="0"/>
          </a:p>
          <a:p>
            <a:pPr marL="0" indent="0">
              <a:lnSpc>
                <a:spcPct val="142000"/>
              </a:lnSpc>
              <a:buNone/>
            </a:pPr>
            <a:r>
              <a:rPr lang="en-US" sz="800" dirty="0">
                <a:solidFill>
                  <a:srgbClr val="52B7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├── dataset/</a:t>
            </a:r>
            <a:endParaRPr lang="en-US" sz="800" dirty="0"/>
          </a:p>
          <a:p>
            <a:pPr marL="0" indent="0">
              <a:lnSpc>
                <a:spcPct val="142000"/>
              </a:lnSpc>
              <a:buNone/>
            </a:pPr>
            <a:r>
              <a:rPr lang="en-US" sz="800" dirty="0">
                <a:solidFill>
                  <a:srgbClr val="E8B9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│   └── ultimate_housing_dataset.csv</a:t>
            </a:r>
            <a:endParaRPr lang="en-US" sz="800" dirty="0"/>
          </a:p>
          <a:p>
            <a:pPr marL="0" indent="0">
              <a:lnSpc>
                <a:spcPct val="142000"/>
              </a:lnSpc>
              <a:buNone/>
            </a:pPr>
            <a:r>
              <a:rPr lang="en-US" sz="800" dirty="0">
                <a:solidFill>
                  <a:srgbClr val="52B7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├── output/</a:t>
            </a:r>
            <a:endParaRPr lang="en-US" sz="800" dirty="0"/>
          </a:p>
          <a:p>
            <a:pPr marL="0" indent="0">
              <a:lnSpc>
                <a:spcPct val="142000"/>
              </a:lnSpc>
              <a:buNone/>
            </a:pPr>
            <a:r>
              <a:rPr lang="en-US" sz="800" dirty="0">
                <a:solidFill>
                  <a:srgbClr val="E8B9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│   ├── house_price_model.pkl</a:t>
            </a:r>
            <a:endParaRPr lang="en-US" sz="800" dirty="0"/>
          </a:p>
          <a:p>
            <a:pPr marL="0" indent="0">
              <a:lnSpc>
                <a:spcPct val="142000"/>
              </a:lnSpc>
              <a:buNone/>
            </a:pPr>
            <a:r>
              <a:rPr lang="en-US" sz="800" dirty="0">
                <a:solidFill>
                  <a:srgbClr val="D1D9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│   ├── heatmap.png</a:t>
            </a:r>
            <a:endParaRPr lang="en-US" sz="800" dirty="0"/>
          </a:p>
          <a:p>
            <a:pPr marL="0" indent="0">
              <a:lnSpc>
                <a:spcPct val="142000"/>
              </a:lnSpc>
              <a:buNone/>
            </a:pPr>
            <a:r>
              <a:rPr lang="en-US" sz="800" dirty="0">
                <a:solidFill>
                  <a:srgbClr val="D1D9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│   ├── area_vs_price.png</a:t>
            </a:r>
            <a:endParaRPr lang="en-US" sz="800" dirty="0"/>
          </a:p>
          <a:p>
            <a:pPr marL="0" indent="0">
              <a:lnSpc>
                <a:spcPct val="142000"/>
              </a:lnSpc>
              <a:buNone/>
            </a:pPr>
            <a:r>
              <a:rPr lang="en-US" sz="800" dirty="0">
                <a:solidFill>
                  <a:srgbClr val="E8B9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│   ├── prediction_results.txt</a:t>
            </a:r>
            <a:endParaRPr lang="en-US" sz="800" dirty="0"/>
          </a:p>
          <a:p>
            <a:pPr marL="0" indent="0">
              <a:lnSpc>
                <a:spcPct val="142000"/>
              </a:lnSpc>
              <a:buNone/>
            </a:pPr>
            <a:r>
              <a:rPr lang="en-US" sz="800" dirty="0">
                <a:solidFill>
                  <a:srgbClr val="E8B9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│   └── model_metrics.txt</a:t>
            </a:r>
            <a:endParaRPr lang="en-US" sz="800" dirty="0"/>
          </a:p>
          <a:p>
            <a:pPr marL="0" indent="0">
              <a:lnSpc>
                <a:spcPct val="142000"/>
              </a:lnSpc>
              <a:buNone/>
            </a:pPr>
            <a:r>
              <a:rPr lang="en-US" sz="800" dirty="0">
                <a:solidFill>
                  <a:srgbClr val="52B7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├── scripts/</a:t>
            </a:r>
            <a:endParaRPr lang="en-US" sz="800" dirty="0"/>
          </a:p>
          <a:p>
            <a:pPr marL="0" indent="0">
              <a:lnSpc>
                <a:spcPct val="142000"/>
              </a:lnSpc>
              <a:buNone/>
            </a:pPr>
            <a:r>
              <a:rPr lang="en-US" sz="800" dirty="0">
                <a:solidFill>
                  <a:srgbClr val="E8B9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│   ├── train_model.py</a:t>
            </a:r>
            <a:endParaRPr lang="en-US" sz="800" dirty="0"/>
          </a:p>
          <a:p>
            <a:pPr marL="0" indent="0">
              <a:lnSpc>
                <a:spcPct val="142000"/>
              </a:lnSpc>
              <a:buNone/>
            </a:pPr>
            <a:r>
              <a:rPr lang="en-US" sz="800" dirty="0">
                <a:solidFill>
                  <a:srgbClr val="E8B9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│   └── eda_analysis.py</a:t>
            </a:r>
            <a:endParaRPr lang="en-US" sz="800" dirty="0"/>
          </a:p>
          <a:p>
            <a:pPr marL="0" indent="0">
              <a:lnSpc>
                <a:spcPct val="142000"/>
              </a:lnSpc>
              <a:buNone/>
            </a:pPr>
            <a:r>
              <a:rPr lang="en-US" sz="800" dirty="0">
                <a:solidFill>
                  <a:srgbClr val="52B7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├── streamlit/</a:t>
            </a:r>
            <a:endParaRPr lang="en-US" sz="800" dirty="0"/>
          </a:p>
          <a:p>
            <a:pPr marL="0" indent="0">
              <a:lnSpc>
                <a:spcPct val="142000"/>
              </a:lnSpc>
              <a:buNone/>
            </a:pPr>
            <a:r>
              <a:rPr lang="en-US" sz="800" dirty="0">
                <a:solidFill>
                  <a:srgbClr val="E8B9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│   └── app.py</a:t>
            </a:r>
            <a:endParaRPr lang="en-US" sz="800" dirty="0"/>
          </a:p>
          <a:p>
            <a:pPr marL="0" indent="0">
              <a:lnSpc>
                <a:spcPct val="142000"/>
              </a:lnSpc>
              <a:buNone/>
            </a:pPr>
            <a:r>
              <a:rPr lang="en-US" sz="800" dirty="0">
                <a:solidFill>
                  <a:srgbClr val="E8B9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├── requirements.txt</a:t>
            </a:r>
            <a:endParaRPr lang="en-US" sz="800" dirty="0"/>
          </a:p>
          <a:p>
            <a:pPr marL="0" indent="0">
              <a:lnSpc>
                <a:spcPct val="142000"/>
              </a:lnSpc>
              <a:buNone/>
            </a:pPr>
            <a:r>
              <a:rPr lang="en-US" sz="800" dirty="0">
                <a:solidFill>
                  <a:srgbClr val="D1D9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└── README.md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4754880" y="1389888"/>
            <a:ext cx="4023360" cy="3154680"/>
          </a:xfrm>
          <a:prstGeom prst="rect">
            <a:avLst/>
          </a:prstGeom>
          <a:solidFill>
            <a:srgbClr val="FFFFFF"/>
          </a:solidFill>
          <a:ln w="6350">
            <a:solidFill>
              <a:srgbClr val="E0E6F0"/>
            </a:solidFill>
            <a:prstDash val="solid"/>
          </a:ln>
          <a:effectLst>
            <a:outerShdw blurRad="889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754880" y="1389888"/>
            <a:ext cx="4023360" cy="54864"/>
          </a:xfrm>
          <a:prstGeom prst="rect">
            <a:avLst/>
          </a:prstGeom>
          <a:solidFill>
            <a:srgbClr val="1C7EA3"/>
          </a:solidFill>
          <a:ln w="12700">
            <a:solidFill>
              <a:srgbClr val="1C7EA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937760" y="1508760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  Dataset Features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846320" y="1938528"/>
            <a:ext cx="3840480" cy="237744"/>
          </a:xfrm>
          <a:prstGeom prst="rect">
            <a:avLst/>
          </a:prstGeom>
          <a:solidFill>
            <a:srgbClr val="F4F6FB"/>
          </a:solidFill>
          <a:ln w="3810">
            <a:solidFill>
              <a:srgbClr val="E8EEF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919472" y="1965960"/>
            <a:ext cx="1143000" cy="1920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80" dirty="0">
                <a:solidFill>
                  <a:srgbClr val="0D1B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area_sqft</a:t>
            </a:r>
            <a:endParaRPr lang="en-US" sz="880" dirty="0"/>
          </a:p>
        </p:txBody>
      </p:sp>
      <p:sp>
        <p:nvSpPr>
          <p:cNvPr id="16" name="Text 14"/>
          <p:cNvSpPr/>
          <p:nvPr/>
        </p:nvSpPr>
        <p:spPr>
          <a:xfrm>
            <a:off x="6089904" y="1965960"/>
            <a:ext cx="1691640" cy="1920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Property living area (sq.ft)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7808976" y="1965960"/>
            <a:ext cx="749808" cy="1920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50" b="1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Numeric</a:t>
            </a:r>
            <a:endParaRPr lang="en-US" sz="750" dirty="0"/>
          </a:p>
        </p:txBody>
      </p:sp>
      <p:sp>
        <p:nvSpPr>
          <p:cNvPr id="18" name="Shape 16"/>
          <p:cNvSpPr/>
          <p:nvPr/>
        </p:nvSpPr>
        <p:spPr>
          <a:xfrm>
            <a:off x="4846320" y="2198218"/>
            <a:ext cx="3840480" cy="237744"/>
          </a:xfrm>
          <a:prstGeom prst="rect">
            <a:avLst/>
          </a:prstGeom>
          <a:solidFill>
            <a:srgbClr val="FFFFFF"/>
          </a:solidFill>
          <a:ln w="3810">
            <a:solidFill>
              <a:srgbClr val="E8EEF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919472" y="2225650"/>
            <a:ext cx="1143000" cy="1920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80" dirty="0">
                <a:solidFill>
                  <a:srgbClr val="0D1B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bedrooms</a:t>
            </a:r>
            <a:endParaRPr lang="en-US" sz="880" dirty="0"/>
          </a:p>
        </p:txBody>
      </p:sp>
      <p:sp>
        <p:nvSpPr>
          <p:cNvPr id="20" name="Text 18"/>
          <p:cNvSpPr/>
          <p:nvPr/>
        </p:nvSpPr>
        <p:spPr>
          <a:xfrm>
            <a:off x="6089904" y="2225650"/>
            <a:ext cx="1691640" cy="1920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Number of bedrooms (1–6)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7808976" y="2225650"/>
            <a:ext cx="749808" cy="1920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50" b="1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Numeric</a:t>
            </a:r>
            <a:endParaRPr lang="en-US" sz="750" dirty="0"/>
          </a:p>
        </p:txBody>
      </p:sp>
      <p:sp>
        <p:nvSpPr>
          <p:cNvPr id="22" name="Shape 20"/>
          <p:cNvSpPr/>
          <p:nvPr/>
        </p:nvSpPr>
        <p:spPr>
          <a:xfrm>
            <a:off x="4846320" y="2457907"/>
            <a:ext cx="3840480" cy="237744"/>
          </a:xfrm>
          <a:prstGeom prst="rect">
            <a:avLst/>
          </a:prstGeom>
          <a:solidFill>
            <a:srgbClr val="F4F6FB"/>
          </a:solidFill>
          <a:ln w="3810">
            <a:solidFill>
              <a:srgbClr val="E8EEF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919472" y="2485339"/>
            <a:ext cx="1143000" cy="1920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80" dirty="0">
                <a:solidFill>
                  <a:srgbClr val="0D1B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bathrooms</a:t>
            </a:r>
            <a:endParaRPr lang="en-US" sz="880" dirty="0"/>
          </a:p>
        </p:txBody>
      </p:sp>
      <p:sp>
        <p:nvSpPr>
          <p:cNvPr id="24" name="Text 22"/>
          <p:cNvSpPr/>
          <p:nvPr/>
        </p:nvSpPr>
        <p:spPr>
          <a:xfrm>
            <a:off x="6089904" y="2485339"/>
            <a:ext cx="1691640" cy="1920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Number of bathrooms (1–5)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7808976" y="2485339"/>
            <a:ext cx="749808" cy="1920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50" b="1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Numeric</a:t>
            </a:r>
            <a:endParaRPr lang="en-US" sz="750" dirty="0"/>
          </a:p>
        </p:txBody>
      </p:sp>
      <p:sp>
        <p:nvSpPr>
          <p:cNvPr id="26" name="Shape 24"/>
          <p:cNvSpPr/>
          <p:nvPr/>
        </p:nvSpPr>
        <p:spPr>
          <a:xfrm>
            <a:off x="4846320" y="2717597"/>
            <a:ext cx="3840480" cy="237744"/>
          </a:xfrm>
          <a:prstGeom prst="rect">
            <a:avLst/>
          </a:prstGeom>
          <a:solidFill>
            <a:srgbClr val="FFFFFF"/>
          </a:solidFill>
          <a:ln w="3810">
            <a:solidFill>
              <a:srgbClr val="E8EEF5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919472" y="2745029"/>
            <a:ext cx="1143000" cy="1920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80" dirty="0">
                <a:solidFill>
                  <a:srgbClr val="0D1B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parking</a:t>
            </a:r>
            <a:endParaRPr lang="en-US" sz="880" dirty="0"/>
          </a:p>
        </p:txBody>
      </p:sp>
      <p:sp>
        <p:nvSpPr>
          <p:cNvPr id="28" name="Text 26"/>
          <p:cNvSpPr/>
          <p:nvPr/>
        </p:nvSpPr>
        <p:spPr>
          <a:xfrm>
            <a:off x="6089904" y="2745029"/>
            <a:ext cx="1691640" cy="1920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Parking availability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7808976" y="2745029"/>
            <a:ext cx="749808" cy="1920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50" b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Binary</a:t>
            </a:r>
            <a:endParaRPr lang="en-US" sz="750" dirty="0"/>
          </a:p>
        </p:txBody>
      </p:sp>
      <p:sp>
        <p:nvSpPr>
          <p:cNvPr id="30" name="Shape 28"/>
          <p:cNvSpPr/>
          <p:nvPr/>
        </p:nvSpPr>
        <p:spPr>
          <a:xfrm>
            <a:off x="4846320" y="2977286"/>
            <a:ext cx="3840480" cy="237744"/>
          </a:xfrm>
          <a:prstGeom prst="rect">
            <a:avLst/>
          </a:prstGeom>
          <a:solidFill>
            <a:srgbClr val="F4F6FB"/>
          </a:solidFill>
          <a:ln w="3810">
            <a:solidFill>
              <a:srgbClr val="E8EEF5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919472" y="3004718"/>
            <a:ext cx="1143000" cy="1920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80" dirty="0">
                <a:solidFill>
                  <a:srgbClr val="0D1B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building_age</a:t>
            </a:r>
            <a:endParaRPr lang="en-US" sz="880" dirty="0"/>
          </a:p>
        </p:txBody>
      </p:sp>
      <p:sp>
        <p:nvSpPr>
          <p:cNvPr id="32" name="Text 30"/>
          <p:cNvSpPr/>
          <p:nvPr/>
        </p:nvSpPr>
        <p:spPr>
          <a:xfrm>
            <a:off x="6089904" y="3004718"/>
            <a:ext cx="1691640" cy="1920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 of building in years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7808976" y="3004718"/>
            <a:ext cx="749808" cy="1920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50" b="1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Numeric</a:t>
            </a:r>
            <a:endParaRPr lang="en-US" sz="750" dirty="0"/>
          </a:p>
        </p:txBody>
      </p:sp>
      <p:sp>
        <p:nvSpPr>
          <p:cNvPr id="34" name="Shape 32"/>
          <p:cNvSpPr/>
          <p:nvPr/>
        </p:nvSpPr>
        <p:spPr>
          <a:xfrm>
            <a:off x="4846320" y="3236976"/>
            <a:ext cx="3840480" cy="237744"/>
          </a:xfrm>
          <a:prstGeom prst="rect">
            <a:avLst/>
          </a:prstGeom>
          <a:solidFill>
            <a:srgbClr val="FFFFFF"/>
          </a:solidFill>
          <a:ln w="3810">
            <a:solidFill>
              <a:srgbClr val="E8EEF5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919472" y="3264408"/>
            <a:ext cx="1143000" cy="1920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80" dirty="0">
                <a:solidFill>
                  <a:srgbClr val="0D1B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near_metro</a:t>
            </a:r>
            <a:endParaRPr lang="en-US" sz="880" dirty="0"/>
          </a:p>
        </p:txBody>
      </p:sp>
      <p:sp>
        <p:nvSpPr>
          <p:cNvPr id="36" name="Text 34"/>
          <p:cNvSpPr/>
          <p:nvPr/>
        </p:nvSpPr>
        <p:spPr>
          <a:xfrm>
            <a:off x="6089904" y="3264408"/>
            <a:ext cx="1691640" cy="1920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Proximity to metro station</a:t>
            </a:r>
            <a:endParaRPr lang="en-US" sz="850" dirty="0"/>
          </a:p>
        </p:txBody>
      </p:sp>
      <p:sp>
        <p:nvSpPr>
          <p:cNvPr id="37" name="Text 35"/>
          <p:cNvSpPr/>
          <p:nvPr/>
        </p:nvSpPr>
        <p:spPr>
          <a:xfrm>
            <a:off x="7808976" y="3264408"/>
            <a:ext cx="749808" cy="1920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50" b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Binary</a:t>
            </a:r>
            <a:endParaRPr lang="en-US" sz="750" dirty="0"/>
          </a:p>
        </p:txBody>
      </p:sp>
      <p:sp>
        <p:nvSpPr>
          <p:cNvPr id="38" name="Shape 36"/>
          <p:cNvSpPr/>
          <p:nvPr/>
        </p:nvSpPr>
        <p:spPr>
          <a:xfrm>
            <a:off x="4846320" y="3496666"/>
            <a:ext cx="3840480" cy="237744"/>
          </a:xfrm>
          <a:prstGeom prst="rect">
            <a:avLst/>
          </a:prstGeom>
          <a:solidFill>
            <a:srgbClr val="F4F6FB"/>
          </a:solidFill>
          <a:ln w="3810">
            <a:solidFill>
              <a:srgbClr val="E8EEF5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919472" y="3524098"/>
            <a:ext cx="1143000" cy="1920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80" dirty="0">
                <a:solidFill>
                  <a:srgbClr val="0D1B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gym</a:t>
            </a:r>
            <a:endParaRPr lang="en-US" sz="880" dirty="0"/>
          </a:p>
        </p:txBody>
      </p:sp>
      <p:sp>
        <p:nvSpPr>
          <p:cNvPr id="40" name="Text 38"/>
          <p:cNvSpPr/>
          <p:nvPr/>
        </p:nvSpPr>
        <p:spPr>
          <a:xfrm>
            <a:off x="6089904" y="3524098"/>
            <a:ext cx="1691640" cy="1920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Gymnasium facility</a:t>
            </a:r>
            <a:endParaRPr lang="en-US" sz="850" dirty="0"/>
          </a:p>
        </p:txBody>
      </p:sp>
      <p:sp>
        <p:nvSpPr>
          <p:cNvPr id="41" name="Text 39"/>
          <p:cNvSpPr/>
          <p:nvPr/>
        </p:nvSpPr>
        <p:spPr>
          <a:xfrm>
            <a:off x="7808976" y="3524098"/>
            <a:ext cx="749808" cy="1920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50" b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Binary</a:t>
            </a:r>
            <a:endParaRPr lang="en-US" sz="750" dirty="0"/>
          </a:p>
        </p:txBody>
      </p:sp>
      <p:sp>
        <p:nvSpPr>
          <p:cNvPr id="42" name="Shape 40"/>
          <p:cNvSpPr/>
          <p:nvPr/>
        </p:nvSpPr>
        <p:spPr>
          <a:xfrm>
            <a:off x="4846320" y="3756355"/>
            <a:ext cx="3840480" cy="237744"/>
          </a:xfrm>
          <a:prstGeom prst="rect">
            <a:avLst/>
          </a:prstGeom>
          <a:solidFill>
            <a:srgbClr val="FFFFFF"/>
          </a:solidFill>
          <a:ln w="3810">
            <a:solidFill>
              <a:srgbClr val="E8EEF5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919472" y="3783787"/>
            <a:ext cx="1143000" cy="1920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80" dirty="0">
                <a:solidFill>
                  <a:srgbClr val="0D1B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pool</a:t>
            </a:r>
            <a:endParaRPr lang="en-US" sz="880" dirty="0"/>
          </a:p>
        </p:txBody>
      </p:sp>
      <p:sp>
        <p:nvSpPr>
          <p:cNvPr id="44" name="Text 42"/>
          <p:cNvSpPr/>
          <p:nvPr/>
        </p:nvSpPr>
        <p:spPr>
          <a:xfrm>
            <a:off x="6089904" y="3783787"/>
            <a:ext cx="1691640" cy="1920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Swimming pool facility</a:t>
            </a:r>
            <a:endParaRPr lang="en-US" sz="850" dirty="0"/>
          </a:p>
        </p:txBody>
      </p:sp>
      <p:sp>
        <p:nvSpPr>
          <p:cNvPr id="45" name="Text 43"/>
          <p:cNvSpPr/>
          <p:nvPr/>
        </p:nvSpPr>
        <p:spPr>
          <a:xfrm>
            <a:off x="7808976" y="3783787"/>
            <a:ext cx="749808" cy="1920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50" b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Binary</a:t>
            </a:r>
            <a:endParaRPr lang="en-US" sz="750" dirty="0"/>
          </a:p>
        </p:txBody>
      </p:sp>
      <p:sp>
        <p:nvSpPr>
          <p:cNvPr id="46" name="Shape 44"/>
          <p:cNvSpPr/>
          <p:nvPr/>
        </p:nvSpPr>
        <p:spPr>
          <a:xfrm>
            <a:off x="4846320" y="4016045"/>
            <a:ext cx="3840480" cy="237744"/>
          </a:xfrm>
          <a:prstGeom prst="rect">
            <a:avLst/>
          </a:prstGeom>
          <a:solidFill>
            <a:srgbClr val="F4F6FB"/>
          </a:solidFill>
          <a:ln w="3810">
            <a:solidFill>
              <a:srgbClr val="E8EEF5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919472" y="4043477"/>
            <a:ext cx="1143000" cy="1920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80" dirty="0">
                <a:solidFill>
                  <a:srgbClr val="0D1B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city</a:t>
            </a:r>
            <a:endParaRPr lang="en-US" sz="880" dirty="0"/>
          </a:p>
        </p:txBody>
      </p:sp>
      <p:sp>
        <p:nvSpPr>
          <p:cNvPr id="48" name="Text 46"/>
          <p:cNvSpPr/>
          <p:nvPr/>
        </p:nvSpPr>
        <p:spPr>
          <a:xfrm>
            <a:off x="6089904" y="4043477"/>
            <a:ext cx="1691640" cy="1920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City (6 Indian metros)</a:t>
            </a:r>
            <a:endParaRPr lang="en-US" sz="850" dirty="0"/>
          </a:p>
        </p:txBody>
      </p:sp>
      <p:sp>
        <p:nvSpPr>
          <p:cNvPr id="49" name="Text 47"/>
          <p:cNvSpPr/>
          <p:nvPr/>
        </p:nvSpPr>
        <p:spPr>
          <a:xfrm>
            <a:off x="7808976" y="4043477"/>
            <a:ext cx="749808" cy="1920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50" b="1" dirty="0">
                <a:solidFill>
                  <a:srgbClr val="1C7E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Categorical</a:t>
            </a:r>
            <a:endParaRPr lang="en-US" sz="750" dirty="0"/>
          </a:p>
        </p:txBody>
      </p:sp>
      <p:sp>
        <p:nvSpPr>
          <p:cNvPr id="50" name="Shape 48"/>
          <p:cNvSpPr/>
          <p:nvPr/>
        </p:nvSpPr>
        <p:spPr>
          <a:xfrm>
            <a:off x="4846320" y="4275734"/>
            <a:ext cx="3840480" cy="237744"/>
          </a:xfrm>
          <a:prstGeom prst="rect">
            <a:avLst/>
          </a:prstGeom>
          <a:solidFill>
            <a:srgbClr val="FFFFFF"/>
          </a:solidFill>
          <a:ln w="3810">
            <a:solidFill>
              <a:srgbClr val="E8EEF5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4919472" y="4303166"/>
            <a:ext cx="1143000" cy="1920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80" dirty="0">
                <a:solidFill>
                  <a:srgbClr val="0D1B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price</a:t>
            </a:r>
            <a:endParaRPr lang="en-US" sz="880" dirty="0"/>
          </a:p>
        </p:txBody>
      </p:sp>
      <p:sp>
        <p:nvSpPr>
          <p:cNvPr id="52" name="Text 50"/>
          <p:cNvSpPr/>
          <p:nvPr/>
        </p:nvSpPr>
        <p:spPr>
          <a:xfrm>
            <a:off x="6089904" y="4303166"/>
            <a:ext cx="1691640" cy="1920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Property price in ₹ (TARGET)</a:t>
            </a:r>
            <a:endParaRPr lang="en-US" sz="850" dirty="0"/>
          </a:p>
        </p:txBody>
      </p:sp>
      <p:sp>
        <p:nvSpPr>
          <p:cNvPr id="53" name="Text 51"/>
          <p:cNvSpPr/>
          <p:nvPr/>
        </p:nvSpPr>
        <p:spPr>
          <a:xfrm>
            <a:off x="7808976" y="4303166"/>
            <a:ext cx="749808" cy="1920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50" b="1" dirty="0">
                <a:solidFill>
                  <a:srgbClr val="C89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</a:t>
            </a:r>
            <a:endParaRPr lang="en-US" sz="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80D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2743200"/>
            <a:ext cx="4572000" cy="4572000"/>
          </a:xfrm>
          <a:prstGeom prst="ellipse">
            <a:avLst/>
          </a:prstGeom>
          <a:solidFill>
            <a:srgbClr val="C8943A">
              <a:alpha val="10000"/>
            </a:srgbClr>
          </a:solidFill>
          <a:ln w="12700">
            <a:solidFill>
              <a:srgbClr val="C8943A">
                <a:alpha val="1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731520" y="0"/>
            <a:ext cx="2743200" cy="2743200"/>
          </a:xfrm>
          <a:prstGeom prst="ellipse">
            <a:avLst/>
          </a:prstGeom>
          <a:solidFill>
            <a:srgbClr val="112D5E">
              <a:alpha val="18000"/>
            </a:srgbClr>
          </a:solidFill>
          <a:ln w="12700">
            <a:solidFill>
              <a:srgbClr val="112D5E">
                <a:alpha val="18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256032"/>
            <a:ext cx="1920240" cy="256032"/>
          </a:xfrm>
          <a:prstGeom prst="rect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256032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kern="0" spc="200" dirty="0">
                <a:solidFill>
                  <a:srgbClr val="080D1A"/>
                </a:solidFill>
              </a:rPr>
              <a:t>SCRIPTS/TRAIN_MODEL.PY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457200" y="566928"/>
            <a:ext cx="64008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 Training Code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365760" y="1371600"/>
            <a:ext cx="5120640" cy="3657600"/>
          </a:xfrm>
          <a:prstGeom prst="rect">
            <a:avLst/>
          </a:prstGeom>
          <a:solidFill>
            <a:srgbClr val="0F1E35"/>
          </a:solidFill>
          <a:ln w="10160">
            <a:solidFill>
              <a:srgbClr val="1E3A5F"/>
            </a:solidFill>
            <a:prstDash val="solid"/>
          </a:ln>
          <a:effectLst>
            <a:outerShdw blurRad="889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747408" y="2918038"/>
            <a:ext cx="4448783" cy="60973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700" dirty="0">
                <a:solidFill>
                  <a:srgbClr val="C792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1  import pickle, numpy as np, pandas as pd</a:t>
            </a:r>
            <a:endParaRPr lang="en-US" sz="7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700" dirty="0">
                <a:solidFill>
                  <a:srgbClr val="C792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2  from sklearn.model_selection import train_test_split</a:t>
            </a:r>
            <a:endParaRPr lang="en-US" sz="7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700" dirty="0">
                <a:solidFill>
                  <a:srgbClr val="C792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3  from sklearn.ensemble import RandomForestRegressor</a:t>
            </a:r>
            <a:endParaRPr lang="en-US" sz="7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700" dirty="0">
                <a:solidFill>
                  <a:srgbClr val="C792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4  from sklearn.metrics import mean_absolute_error,</a:t>
            </a:r>
            <a:endParaRPr lang="en-US" sz="7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700" dirty="0">
                <a:solidFill>
                  <a:srgbClr val="D1D9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5      mean_squared_error, r2_score</a:t>
            </a:r>
            <a:endParaRPr lang="en-US" sz="7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700" dirty="0">
                <a:solidFill>
                  <a:srgbClr val="7EC8E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6  # Load and encode dataset</a:t>
            </a:r>
            <a:endParaRPr lang="en-US" sz="7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700" dirty="0">
                <a:solidFill>
                  <a:srgbClr val="D1D9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7  df = pd.read_csv('../dataset/ultimate_housing_dataset.csv')</a:t>
            </a:r>
            <a:endParaRPr lang="en-US" sz="7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700" dirty="0">
                <a:solidFill>
                  <a:srgbClr val="D1D9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8  df = pd.get_dummies(df, drop_first=True)</a:t>
            </a:r>
            <a:endParaRPr lang="en-US" sz="7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700" dirty="0">
                <a:solidFill>
                  <a:srgbClr val="D1D9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9  X = df.drop('price', axis=1)</a:t>
            </a:r>
            <a:endParaRPr lang="en-US" sz="7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700" dirty="0">
                <a:solidFill>
                  <a:srgbClr val="D1D9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  y = df['price']</a:t>
            </a:r>
            <a:endParaRPr lang="en-US" sz="7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700" dirty="0">
                <a:solidFill>
                  <a:srgbClr val="7EC8E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11  # 80/20 Train-Test Split</a:t>
            </a:r>
            <a:endParaRPr lang="en-US" sz="7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700" dirty="0">
                <a:solidFill>
                  <a:srgbClr val="D1D9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  X_train,X_test,y_train,y_test = train_test_split(</a:t>
            </a:r>
            <a:endParaRPr lang="en-US" sz="7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700" dirty="0">
                <a:solidFill>
                  <a:srgbClr val="D1D9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13      X, y, test_size=0.2, random_state=42)</a:t>
            </a:r>
            <a:endParaRPr lang="en-US" sz="7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700" dirty="0">
                <a:solidFill>
                  <a:srgbClr val="7EC8E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14  # Random Forest — 200 trees, depth 18</a:t>
            </a:r>
            <a:endParaRPr lang="en-US" sz="7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700" dirty="0">
                <a:solidFill>
                  <a:srgbClr val="D1D9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15  model = RandomForestRegressor(</a:t>
            </a:r>
            <a:endParaRPr lang="en-US" sz="7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700" dirty="0">
                <a:solidFill>
                  <a:srgbClr val="D1D9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16      n_estimators=200, max_depth=18, random_state=42)</a:t>
            </a:r>
            <a:endParaRPr lang="en-US" sz="7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700" dirty="0">
                <a:solidFill>
                  <a:srgbClr val="D1D9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17  model.fit(X_train, y_train)</a:t>
            </a:r>
            <a:endParaRPr lang="en-US" sz="7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700" dirty="0">
                <a:solidFill>
                  <a:srgbClr val="7EC8E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18  # Evaluation</a:t>
            </a:r>
            <a:endParaRPr lang="en-US" sz="7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700" dirty="0">
                <a:solidFill>
                  <a:srgbClr val="D1D9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19  pred = model.predict(X_test)</a:t>
            </a:r>
            <a:endParaRPr lang="en-US" sz="7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700" dirty="0">
                <a:solidFill>
                  <a:srgbClr val="D1D9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  print(f'MAE: {mean_absolute_error(y_test,pred):.2f}')</a:t>
            </a:r>
            <a:endParaRPr lang="en-US" sz="7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800" dirty="0">
                <a:solidFill>
                  <a:srgbClr val="D1D9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21  print(f'R2 : {r2_score(y_test,pred):.4f}')</a:t>
            </a:r>
            <a:endParaRPr lang="en-US" sz="8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800" dirty="0">
                <a:solidFill>
                  <a:srgbClr val="D1D9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22  pickle.dump(model, open('../output/house_price_model.pkl','wb'))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5623560" y="1371600"/>
            <a:ext cx="3154680" cy="786384"/>
          </a:xfrm>
          <a:prstGeom prst="rect">
            <a:avLst/>
          </a:prstGeom>
          <a:solidFill>
            <a:srgbClr val="0F1E3D"/>
          </a:solidFill>
          <a:ln w="8890">
            <a:solidFill>
              <a:srgbClr val="C8943A"/>
            </a:solidFill>
            <a:prstDash val="solid"/>
          </a:ln>
          <a:effectLst>
            <a:outerShdw blurRad="889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5742432" y="1536192"/>
            <a:ext cx="475488" cy="475488"/>
          </a:xfrm>
          <a:prstGeom prst="ellipse">
            <a:avLst/>
          </a:prstGeom>
          <a:solidFill>
            <a:srgbClr val="C8943A"/>
          </a:solidFill>
          <a:ln w="12700">
            <a:solidFill>
              <a:srgbClr val="C8943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751576" y="1554480"/>
            <a:ext cx="457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📥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6336792" y="1444752"/>
            <a:ext cx="2331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89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Loading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336792" y="1682496"/>
            <a:ext cx="23317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800" dirty="0">
                <a:solidFill>
                  <a:srgbClr val="D1D9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Reads CSV from dataset/. Uses pd.get_dummies() to one-hot encode the city column (drop_first=True to avoid multicollinearity).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5623560" y="2267712"/>
            <a:ext cx="3154680" cy="786384"/>
          </a:xfrm>
          <a:prstGeom prst="rect">
            <a:avLst/>
          </a:prstGeom>
          <a:solidFill>
            <a:srgbClr val="0F1E3D"/>
          </a:solidFill>
          <a:ln w="8890">
            <a:solidFill>
              <a:srgbClr val="52B788"/>
            </a:solidFill>
            <a:prstDash val="solid"/>
          </a:ln>
          <a:effectLst>
            <a:outerShdw blurRad="889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5742432" y="2432304"/>
            <a:ext cx="475488" cy="475488"/>
          </a:xfrm>
          <a:prstGeom prst="ellipse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751576" y="2450592"/>
            <a:ext cx="457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✂️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6336792" y="2340864"/>
            <a:ext cx="2331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52B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Train-Test Split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327648" y="2613044"/>
            <a:ext cx="2331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850" dirty="0">
                <a:solidFill>
                  <a:srgbClr val="D1D9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80% training / 20% testing. random_state=42 ensures reproducible splits across runs.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623560" y="3163824"/>
            <a:ext cx="3154680" cy="786384"/>
          </a:xfrm>
          <a:prstGeom prst="rect">
            <a:avLst/>
          </a:prstGeom>
          <a:solidFill>
            <a:srgbClr val="0F1E3D"/>
          </a:solidFill>
          <a:ln w="8890">
            <a:solidFill>
              <a:srgbClr val="4DB8D0"/>
            </a:solidFill>
            <a:prstDash val="solid"/>
          </a:ln>
          <a:effectLst>
            <a:outerShdw blurRad="889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5742432" y="3328416"/>
            <a:ext cx="475488" cy="475488"/>
          </a:xfrm>
          <a:prstGeom prst="ellipse">
            <a:avLst/>
          </a:prstGeom>
          <a:solidFill>
            <a:srgbClr val="4DB8D0"/>
          </a:solidFill>
          <a:ln w="12700">
            <a:solidFill>
              <a:srgbClr val="4DB8D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751576" y="3346704"/>
            <a:ext cx="457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🌲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6327648" y="3182112"/>
            <a:ext cx="2331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4DB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336792" y="3547872"/>
            <a:ext cx="2331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850" dirty="0">
                <a:solidFill>
                  <a:srgbClr val="D1D9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 decision trees. max_depth=18 prevents underfitting while controlling overfitting. Ensemble averaging reduces variance.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5623560" y="4059936"/>
            <a:ext cx="3154680" cy="786384"/>
          </a:xfrm>
          <a:prstGeom prst="rect">
            <a:avLst/>
          </a:prstGeom>
          <a:solidFill>
            <a:srgbClr val="0F1E3D"/>
          </a:solidFill>
          <a:ln w="8890">
            <a:solidFill>
              <a:srgbClr val="E8B96A"/>
            </a:solidFill>
            <a:prstDash val="solid"/>
          </a:ln>
          <a:effectLst>
            <a:outerShdw blurRad="889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5742432" y="4224528"/>
            <a:ext cx="475488" cy="475488"/>
          </a:xfrm>
          <a:prstGeom prst="ellipse">
            <a:avLst/>
          </a:prstGeom>
          <a:solidFill>
            <a:srgbClr val="E8B96A"/>
          </a:solidFill>
          <a:ln w="12700">
            <a:solidFill>
              <a:srgbClr val="E8B96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751576" y="4242816"/>
            <a:ext cx="457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💾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6336792" y="4133088"/>
            <a:ext cx="2331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8B9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Persistence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336792" y="4443984"/>
            <a:ext cx="2331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850" dirty="0">
                <a:solidFill>
                  <a:srgbClr val="D1D9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Trained model serialized via pickle to output/house_price_model.pkl. Loaded directly by Streamlit app.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72400" y="-457200"/>
            <a:ext cx="2286000" cy="2286000"/>
          </a:xfrm>
          <a:prstGeom prst="ellipse">
            <a:avLst/>
          </a:prstGeom>
          <a:solidFill>
            <a:srgbClr val="112D5E">
              <a:alpha val="25000"/>
            </a:srgbClr>
          </a:solidFill>
          <a:ln w="12700">
            <a:solidFill>
              <a:srgbClr val="112D5E">
                <a:alpha val="2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229600" y="274320"/>
            <a:ext cx="1371600" cy="1371600"/>
          </a:xfrm>
          <a:prstGeom prst="ellipse">
            <a:avLst/>
          </a:prstGeom>
          <a:solidFill>
            <a:srgbClr val="C8943A">
              <a:alpha val="20000"/>
            </a:srgbClr>
          </a:solidFill>
          <a:ln w="12700">
            <a:solidFill>
              <a:srgbClr val="C8943A">
                <a:alpha val="2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274320"/>
            <a:ext cx="1920240" cy="256032"/>
          </a:xfrm>
          <a:prstGeom prst="rect">
            <a:avLst/>
          </a:prstGeom>
          <a:solidFill>
            <a:srgbClr val="1C7EA3"/>
          </a:solidFill>
          <a:ln w="12700">
            <a:solidFill>
              <a:srgbClr val="1C7EA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274320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kern="0" spc="200" dirty="0">
                <a:solidFill>
                  <a:srgbClr val="080D1A"/>
                </a:solidFill>
              </a:rPr>
              <a:t>SCRIPTS/EDA_ANALYSIS.PY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457200" y="594360"/>
            <a:ext cx="64008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D1B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EDA Analysis Code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365760" y="1389888"/>
            <a:ext cx="5120640" cy="3611880"/>
          </a:xfrm>
          <a:prstGeom prst="rect">
            <a:avLst/>
          </a:prstGeom>
          <a:solidFill>
            <a:srgbClr val="0F1E35"/>
          </a:solidFill>
          <a:ln w="10160">
            <a:solidFill>
              <a:srgbClr val="1E3A5F"/>
            </a:solidFill>
            <a:prstDash val="solid"/>
          </a:ln>
          <a:effectLst>
            <a:outerShdw blurRad="889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30352" y="1554480"/>
            <a:ext cx="4846320" cy="3337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700" dirty="0">
                <a:solidFill>
                  <a:srgbClr val="C792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1  import pandas as pd</a:t>
            </a:r>
            <a:endParaRPr lang="en-US" sz="7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700" dirty="0">
                <a:solidFill>
                  <a:srgbClr val="C792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2  import seaborn as sns</a:t>
            </a:r>
            <a:endParaRPr lang="en-US" sz="7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700" dirty="0">
                <a:solidFill>
                  <a:srgbClr val="C792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3  import matplotlib.pyplot as plt</a:t>
            </a:r>
            <a:endParaRPr lang="en-US" sz="7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700" dirty="0">
                <a:solidFill>
                  <a:srgbClr val="7EC8E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4  # Load dataset</a:t>
            </a:r>
            <a:endParaRPr lang="en-US" sz="7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700" dirty="0">
                <a:solidFill>
                  <a:srgbClr val="D1D9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5  df = pd.read_csv('../dataset/ultimate_housing_dataset.csv')</a:t>
            </a:r>
            <a:endParaRPr lang="en-US" sz="7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700" dirty="0">
                <a:solidFill>
                  <a:srgbClr val="7EC8E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6  # ── Correlation Heatmap ──────────────────</a:t>
            </a:r>
            <a:endParaRPr lang="en-US" sz="7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700" dirty="0">
                <a:solidFill>
                  <a:srgbClr val="D1D9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7  plt.figure(figsize=(12, 8))</a:t>
            </a:r>
            <a:endParaRPr lang="en-US" sz="7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700" dirty="0">
                <a:solidFill>
                  <a:srgbClr val="D1D9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8  sns.heatmap(</a:t>
            </a:r>
            <a:endParaRPr lang="en-US" sz="7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700" dirty="0">
                <a:solidFill>
                  <a:srgbClr val="D1D9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9      df.select_dtypes(include='number').corr(),</a:t>
            </a:r>
            <a:endParaRPr lang="en-US" sz="7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700" dirty="0">
                <a:solidFill>
                  <a:srgbClr val="D1D9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      annot=True,</a:t>
            </a:r>
            <a:endParaRPr lang="en-US" sz="7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700" dirty="0">
                <a:solidFill>
                  <a:srgbClr val="D1D9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11      cmap='coolwarm'</a:t>
            </a:r>
            <a:endParaRPr lang="en-US" sz="7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700" dirty="0">
                <a:solidFill>
                  <a:srgbClr val="D1D9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12  )</a:t>
            </a:r>
            <a:endParaRPr lang="en-US" sz="7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700" dirty="0">
                <a:solidFill>
                  <a:srgbClr val="D1D9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13  plt.title('Correlation Heatmap')</a:t>
            </a:r>
            <a:endParaRPr lang="en-US" sz="7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700" dirty="0">
                <a:solidFill>
                  <a:srgbClr val="D1D9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14  plt.savefig('../output/heatmap.png', bbox_inches='tight')</a:t>
            </a:r>
            <a:endParaRPr lang="en-US" sz="7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700" dirty="0">
                <a:solidFill>
                  <a:srgbClr val="7EC8E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15  # ── Area vs Price Scatter ────────────────</a:t>
            </a:r>
            <a:endParaRPr lang="en-US" sz="7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700" dirty="0">
                <a:solidFill>
                  <a:srgbClr val="D1D9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16  plt.figure(figsize=(10, 6))</a:t>
            </a:r>
            <a:endParaRPr lang="en-US" sz="7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700" dirty="0">
                <a:solidFill>
                  <a:srgbClr val="D1D9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17  sns.scatterplot(</a:t>
            </a:r>
            <a:endParaRPr lang="en-US" sz="7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700" dirty="0">
                <a:solidFill>
                  <a:srgbClr val="D1D9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18      x=df['area_sqft'],</a:t>
            </a:r>
            <a:endParaRPr lang="en-US" sz="7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700" dirty="0">
                <a:solidFill>
                  <a:srgbClr val="D1D9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19      y=df['price'],</a:t>
            </a:r>
            <a:endParaRPr lang="en-US" sz="7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700" dirty="0">
                <a:solidFill>
                  <a:srgbClr val="D1D9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      hue=df['city']</a:t>
            </a:r>
            <a:endParaRPr lang="en-US" sz="7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700" dirty="0">
                <a:solidFill>
                  <a:srgbClr val="D1D9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21  )</a:t>
            </a:r>
            <a:endParaRPr lang="en-US" sz="7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700" dirty="0">
                <a:solidFill>
                  <a:srgbClr val="D1D9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22  plt.title('Area vs Price Analysis')</a:t>
            </a:r>
            <a:endParaRPr lang="en-US" sz="7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700" dirty="0">
                <a:solidFill>
                  <a:srgbClr val="D1D9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23  plt.savefig('../output/area_vs_price.png')</a:t>
            </a:r>
            <a:endParaRPr lang="en-US" sz="700" dirty="0"/>
          </a:p>
        </p:txBody>
      </p:sp>
      <p:sp>
        <p:nvSpPr>
          <p:cNvPr id="9" name="Shape 7"/>
          <p:cNvSpPr/>
          <p:nvPr/>
        </p:nvSpPr>
        <p:spPr>
          <a:xfrm>
            <a:off x="5623560" y="1389888"/>
            <a:ext cx="3154680" cy="3611880"/>
          </a:xfrm>
          <a:prstGeom prst="rect">
            <a:avLst/>
          </a:prstGeom>
          <a:solidFill>
            <a:srgbClr val="FFFFFF"/>
          </a:solidFill>
          <a:ln w="6350">
            <a:solidFill>
              <a:srgbClr val="E0E6F0"/>
            </a:solidFill>
            <a:prstDash val="solid"/>
          </a:ln>
          <a:effectLst>
            <a:outerShdw blurRad="889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5623560" y="1389888"/>
            <a:ext cx="3154680" cy="50292"/>
          </a:xfrm>
          <a:prstGeom prst="rect">
            <a:avLst/>
          </a:prstGeom>
          <a:solidFill>
            <a:srgbClr val="1C7EA3"/>
          </a:solidFill>
          <a:ln w="12700">
            <a:solidFill>
              <a:srgbClr val="1C7EA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779008" y="1508760"/>
            <a:ext cx="2834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EDA Outputs Generated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715000" y="1920240"/>
            <a:ext cx="2971800" cy="658368"/>
          </a:xfrm>
          <a:prstGeom prst="rect">
            <a:avLst/>
          </a:prstGeom>
          <a:solidFill>
            <a:srgbClr val="F4F6FB"/>
          </a:solidFill>
          <a:ln w="5080">
            <a:solidFill>
              <a:srgbClr val="E0E6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715000" y="1920240"/>
            <a:ext cx="50292" cy="658368"/>
          </a:xfrm>
          <a:prstGeom prst="rect">
            <a:avLst/>
          </a:prstGeom>
          <a:solidFill>
            <a:srgbClr val="C8943A"/>
          </a:solidFill>
          <a:ln w="12700">
            <a:solidFill>
              <a:srgbClr val="C8943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833872" y="2029968"/>
            <a:ext cx="475488" cy="475488"/>
          </a:xfrm>
          <a:prstGeom prst="ellipse">
            <a:avLst/>
          </a:prstGeom>
          <a:solidFill>
            <a:srgbClr val="C8943A"/>
          </a:solidFill>
          <a:ln w="12700">
            <a:solidFill>
              <a:srgbClr val="C8943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843016" y="2048256"/>
            <a:ext cx="457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🔥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6419088" y="1975104"/>
            <a:ext cx="21762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heatmap.png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6419088" y="2249424"/>
            <a:ext cx="21762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850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Correlation matrix of all numeric features. Reveals which inputs most influence price.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5715000" y="2670048"/>
            <a:ext cx="2971800" cy="658368"/>
          </a:xfrm>
          <a:prstGeom prst="rect">
            <a:avLst/>
          </a:prstGeom>
          <a:solidFill>
            <a:srgbClr val="F4F6FB"/>
          </a:solidFill>
          <a:ln w="5080">
            <a:solidFill>
              <a:srgbClr val="E0E6F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715000" y="2670048"/>
            <a:ext cx="50292" cy="658368"/>
          </a:xfrm>
          <a:prstGeom prst="rect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833872" y="2779776"/>
            <a:ext cx="475488" cy="475488"/>
          </a:xfrm>
          <a:prstGeom prst="ellipse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843016" y="2798064"/>
            <a:ext cx="457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📍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6419088" y="2724912"/>
            <a:ext cx="21762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area_vs_price.png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6419088" y="2999232"/>
            <a:ext cx="21762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850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Scatter plot of sqft_area vs price, colour-coded by city. Shows location premium.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5715000" y="3419856"/>
            <a:ext cx="2971800" cy="658368"/>
          </a:xfrm>
          <a:prstGeom prst="rect">
            <a:avLst/>
          </a:prstGeom>
          <a:solidFill>
            <a:srgbClr val="F4F6FB"/>
          </a:solidFill>
          <a:ln w="5080">
            <a:solidFill>
              <a:srgbClr val="E0E6F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715000" y="3419856"/>
            <a:ext cx="50292" cy="658368"/>
          </a:xfrm>
          <a:prstGeom prst="rect">
            <a:avLst/>
          </a:prstGeom>
          <a:solidFill>
            <a:srgbClr val="1C7EA3"/>
          </a:solidFill>
          <a:ln w="12700">
            <a:solidFill>
              <a:srgbClr val="1C7EA3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833872" y="3529584"/>
            <a:ext cx="475488" cy="475488"/>
          </a:xfrm>
          <a:prstGeom prst="ellipse">
            <a:avLst/>
          </a:prstGeom>
          <a:solidFill>
            <a:srgbClr val="1C7EA3"/>
          </a:solidFill>
          <a:ln w="12700">
            <a:solidFill>
              <a:srgbClr val="1C7EA3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843016" y="3547872"/>
            <a:ext cx="457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📋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6419088" y="3474720"/>
            <a:ext cx="21762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Info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6419088" y="3749040"/>
            <a:ext cx="21762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850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df.head(), df.info(), df.describe() printed to console for quick data profiling.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5715000" y="4169664"/>
            <a:ext cx="2971800" cy="658368"/>
          </a:xfrm>
          <a:prstGeom prst="rect">
            <a:avLst/>
          </a:prstGeom>
          <a:solidFill>
            <a:srgbClr val="F4F6FB"/>
          </a:solidFill>
          <a:ln w="5080">
            <a:solidFill>
              <a:srgbClr val="E0E6F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5715000" y="4169664"/>
            <a:ext cx="50292" cy="658368"/>
          </a:xfrm>
          <a:prstGeom prst="rect">
            <a:avLst/>
          </a:prstGeom>
          <a:solidFill>
            <a:srgbClr val="E8B96A"/>
          </a:solidFill>
          <a:ln w="12700">
            <a:solidFill>
              <a:srgbClr val="E8B96A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5833872" y="4279392"/>
            <a:ext cx="475488" cy="475488"/>
          </a:xfrm>
          <a:prstGeom prst="ellipse">
            <a:avLst/>
          </a:prstGeom>
          <a:solidFill>
            <a:srgbClr val="E8B96A"/>
          </a:solidFill>
          <a:ln w="12700">
            <a:solidFill>
              <a:srgbClr val="E8B96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843016" y="4297680"/>
            <a:ext cx="457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📊</a:t>
            </a:r>
            <a:endParaRPr lang="en-US" sz="1800" dirty="0"/>
          </a:p>
        </p:txBody>
      </p:sp>
      <p:sp>
        <p:nvSpPr>
          <p:cNvPr id="34" name="Text 32"/>
          <p:cNvSpPr/>
          <p:nvPr/>
        </p:nvSpPr>
        <p:spPr>
          <a:xfrm>
            <a:off x="6419088" y="4224528"/>
            <a:ext cx="21762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6419088" y="4498848"/>
            <a:ext cx="21762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850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area_sqft and city are the strongest price predictors. Mumbai &amp; Delhi command highest premiums.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80D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0" y="2743200"/>
            <a:ext cx="4572000" cy="4572000"/>
          </a:xfrm>
          <a:prstGeom prst="ellipse">
            <a:avLst/>
          </a:prstGeom>
          <a:solidFill>
            <a:srgbClr val="2D6A4F">
              <a:alpha val="10000"/>
            </a:srgbClr>
          </a:solidFill>
          <a:ln w="12700">
            <a:solidFill>
              <a:srgbClr val="2D6A4F">
                <a:alpha val="1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256032"/>
            <a:ext cx="1645920" cy="256032"/>
          </a:xfrm>
          <a:prstGeom prst="rect">
            <a:avLst/>
          </a:prstGeom>
          <a:solidFill>
            <a:srgbClr val="C8943A"/>
          </a:solidFill>
          <a:ln w="12700">
            <a:solidFill>
              <a:srgbClr val="C8943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256032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kern="0" spc="200" dirty="0">
                <a:solidFill>
                  <a:srgbClr val="080D1A"/>
                </a:solidFill>
              </a:rPr>
              <a:t>STREAMLIT/APP.PY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457200" y="566928"/>
            <a:ext cx="64008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Streamlit Application Code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365760" y="1371600"/>
            <a:ext cx="5166360" cy="3657600"/>
          </a:xfrm>
          <a:prstGeom prst="rect">
            <a:avLst/>
          </a:prstGeom>
          <a:solidFill>
            <a:srgbClr val="0F1E35"/>
          </a:solidFill>
          <a:ln w="10160">
            <a:solidFill>
              <a:srgbClr val="1E3A5F"/>
            </a:solidFill>
            <a:prstDash val="solid"/>
          </a:ln>
          <a:effectLst>
            <a:outerShdw blurRad="889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536192"/>
            <a:ext cx="4892040" cy="3383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600" dirty="0">
                <a:solidFill>
                  <a:srgbClr val="C792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1  import streamlit as st, pickle, pandas as pd</a:t>
            </a:r>
            <a:endParaRPr lang="en-US" sz="6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600" dirty="0">
                <a:solidFill>
                  <a:srgbClr val="C792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2  import plotly.express as px</a:t>
            </a:r>
            <a:endParaRPr lang="en-US" sz="6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600" dirty="0">
                <a:solidFill>
                  <a:srgbClr val="D1D9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3  st.set_page_config(page_title='AI Real Estate',</a:t>
            </a:r>
            <a:endParaRPr lang="en-US" sz="6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600" dirty="0">
                <a:solidFill>
                  <a:srgbClr val="D1D9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4      page_icon='🏠', layout='wide')</a:t>
            </a:r>
            <a:endParaRPr lang="en-US" sz="6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600" dirty="0">
                <a:solidFill>
                  <a:srgbClr val="7EC8E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5  # Load model &amp; dataset</a:t>
            </a:r>
            <a:endParaRPr lang="en-US" sz="6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600" dirty="0">
                <a:solidFill>
                  <a:srgbClr val="D1D9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6  model = pickle.load(open('../output/house_price_model.pkl','rb'))</a:t>
            </a:r>
            <a:endParaRPr lang="en-US" sz="6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600" dirty="0">
                <a:solidFill>
                  <a:srgbClr val="D1D9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7  dataset = pd.read_csv('../dataset/ultimate_housing_dataset.csv')</a:t>
            </a:r>
            <a:endParaRPr lang="en-US" sz="6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600" dirty="0">
                <a:solidFill>
                  <a:srgbClr val="D1D9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8  st.title('🏠 AI-Based Real Estate Valuation System')</a:t>
            </a:r>
            <a:endParaRPr lang="en-US" sz="6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600" dirty="0">
                <a:solidFill>
                  <a:srgbClr val="7EC8E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9  # 2-column layout</a:t>
            </a:r>
            <a:endParaRPr lang="en-US" sz="6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600" dirty="0">
                <a:solidFill>
                  <a:srgbClr val="D1D9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  left, right = st.columns(2)</a:t>
            </a:r>
            <a:endParaRPr lang="en-US" sz="6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600" dirty="0">
                <a:solidFill>
                  <a:srgbClr val="D1D9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11  with left:</a:t>
            </a:r>
            <a:endParaRPr lang="en-US" sz="6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600" dirty="0">
                <a:solidFill>
                  <a:srgbClr val="D1D9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      city    = st.selectbox('City', ['Bangalore','Mumbai',...])</a:t>
            </a:r>
            <a:endParaRPr lang="en-US" sz="6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600" dirty="0">
                <a:solidFill>
                  <a:srgbClr val="D1D9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13      area    = st.slider('Area (Sq.ft)', 500, 7000, 1800)</a:t>
            </a:r>
            <a:endParaRPr lang="en-US" sz="6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600" dirty="0">
                <a:solidFill>
                  <a:srgbClr val="D1D9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14      bedrooms= st.slider('Bedrooms', 1, 6, 3)</a:t>
            </a:r>
            <a:endParaRPr lang="en-US" sz="6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600" dirty="0">
                <a:solidFill>
                  <a:srgbClr val="D1D9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15  with right:</a:t>
            </a:r>
            <a:endParaRPr lang="en-US" sz="6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600" dirty="0">
                <a:solidFill>
                  <a:srgbClr val="D1D9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16      parking = st.selectbox('Parking', ['Yes','No'])</a:t>
            </a:r>
            <a:endParaRPr lang="en-US" sz="6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600" dirty="0">
                <a:solidFill>
                  <a:srgbClr val="D1D9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17      near_metro = st.selectbox('Near Metro', ['Yes','No'])</a:t>
            </a:r>
            <a:endParaRPr lang="en-US" sz="6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600" dirty="0">
                <a:solidFill>
                  <a:srgbClr val="D1D9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18      gym = st.selectbox('Gym', ['Yes','No'])</a:t>
            </a:r>
            <a:endParaRPr lang="en-US" sz="6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600" dirty="0">
                <a:solidFill>
                  <a:srgbClr val="7EC8E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19  # Predict</a:t>
            </a:r>
            <a:endParaRPr lang="en-US" sz="6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600" dirty="0">
                <a:solidFill>
                  <a:srgbClr val="D1D9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  if st.button('Predict Property Price'):</a:t>
            </a:r>
            <a:endParaRPr lang="en-US" sz="6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600" dirty="0">
                <a:solidFill>
                  <a:srgbClr val="D1D9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21      price = model.predict(input_data)[0]</a:t>
            </a:r>
            <a:endParaRPr lang="en-US" sz="6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600" dirty="0">
                <a:solidFill>
                  <a:srgbClr val="D1D9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22      st.success(f'Estimated Price: ₹ {price:,.2f}')</a:t>
            </a:r>
            <a:endParaRPr lang="en-US" sz="6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600" dirty="0">
                <a:solidFill>
                  <a:srgbClr val="7EC8E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23  # Analytics charts</a:t>
            </a:r>
            <a:endParaRPr lang="en-US" sz="6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600" dirty="0">
                <a:solidFill>
                  <a:srgbClr val="D1D9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24  st.plotly_chart(px.histogram(dataset, x='price', color='city'))</a:t>
            </a:r>
            <a:endParaRPr lang="en-US" sz="600" dirty="0"/>
          </a:p>
        </p:txBody>
      </p:sp>
      <p:sp>
        <p:nvSpPr>
          <p:cNvPr id="8" name="Shape 6"/>
          <p:cNvSpPr/>
          <p:nvPr/>
        </p:nvSpPr>
        <p:spPr>
          <a:xfrm>
            <a:off x="5669280" y="1371600"/>
            <a:ext cx="3127248" cy="786384"/>
          </a:xfrm>
          <a:prstGeom prst="rect">
            <a:avLst/>
          </a:prstGeom>
          <a:solidFill>
            <a:srgbClr val="0F1E3D"/>
          </a:solidFill>
          <a:ln w="8890">
            <a:solidFill>
              <a:srgbClr val="C8943A"/>
            </a:solidFill>
            <a:prstDash val="solid"/>
          </a:ln>
          <a:effectLst>
            <a:outerShdw blurRad="889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5788152" y="1536192"/>
            <a:ext cx="475488" cy="475488"/>
          </a:xfrm>
          <a:prstGeom prst="ellipse">
            <a:avLst/>
          </a:prstGeom>
          <a:solidFill>
            <a:srgbClr val="C8943A"/>
          </a:solidFill>
          <a:ln w="12700">
            <a:solidFill>
              <a:srgbClr val="C8943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797296" y="1554480"/>
            <a:ext cx="457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🎛️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6382512" y="1444752"/>
            <a:ext cx="230428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89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2-Column Input Form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382512" y="1755648"/>
            <a:ext cx="230428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850" dirty="0">
                <a:solidFill>
                  <a:srgbClr val="D1D9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city, area, bedrooms, bathrooms, parking, building_age, near_metro, gym, pool — all via Streamlit widgets.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5669280" y="2267712"/>
            <a:ext cx="3127248" cy="786384"/>
          </a:xfrm>
          <a:prstGeom prst="rect">
            <a:avLst/>
          </a:prstGeom>
          <a:solidFill>
            <a:srgbClr val="0F1E3D"/>
          </a:solidFill>
          <a:ln w="8890">
            <a:solidFill>
              <a:srgbClr val="52B788"/>
            </a:solidFill>
            <a:prstDash val="solid"/>
          </a:ln>
          <a:effectLst>
            <a:outerShdw blurRad="889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5788152" y="2432304"/>
            <a:ext cx="475488" cy="475488"/>
          </a:xfrm>
          <a:prstGeom prst="ellipse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797296" y="2450592"/>
            <a:ext cx="457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⚡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6382512" y="2340864"/>
            <a:ext cx="230428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52B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Price Prediction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382512" y="2651760"/>
            <a:ext cx="230428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850" dirty="0">
                <a:solidFill>
                  <a:srgbClr val="D1D9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Single-click prediction using the pre-loaded .pkl model. Displays result in ₹ with st.success().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5669280" y="3163824"/>
            <a:ext cx="3127248" cy="786384"/>
          </a:xfrm>
          <a:prstGeom prst="rect">
            <a:avLst/>
          </a:prstGeom>
          <a:solidFill>
            <a:srgbClr val="0F1E3D"/>
          </a:solidFill>
          <a:ln w="8890">
            <a:solidFill>
              <a:srgbClr val="4DB8D0"/>
            </a:solidFill>
            <a:prstDash val="solid"/>
          </a:ln>
          <a:effectLst>
            <a:outerShdw blurRad="889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5788152" y="3328416"/>
            <a:ext cx="475488" cy="475488"/>
          </a:xfrm>
          <a:prstGeom prst="ellipse">
            <a:avLst/>
          </a:prstGeom>
          <a:solidFill>
            <a:srgbClr val="4DB8D0"/>
          </a:solidFill>
          <a:ln w="12700">
            <a:solidFill>
              <a:srgbClr val="4DB8D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797296" y="3346704"/>
            <a:ext cx="457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📊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6382512" y="3236976"/>
            <a:ext cx="230428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4DB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Plotly Analytics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382512" y="3547872"/>
            <a:ext cx="230428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850" dirty="0">
                <a:solidFill>
                  <a:srgbClr val="D1D9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histogram (price by city) and scatter chart (area vs price) rendered with px.histogram / px.scatter.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5669280" y="4059936"/>
            <a:ext cx="3127248" cy="786384"/>
          </a:xfrm>
          <a:prstGeom prst="rect">
            <a:avLst/>
          </a:prstGeom>
          <a:solidFill>
            <a:srgbClr val="0F1E3D"/>
          </a:solidFill>
          <a:ln w="8890">
            <a:solidFill>
              <a:srgbClr val="E8B96A"/>
            </a:solidFill>
            <a:prstDash val="solid"/>
          </a:ln>
          <a:effectLst>
            <a:outerShdw blurRad="889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5788152" y="4224528"/>
            <a:ext cx="475488" cy="475488"/>
          </a:xfrm>
          <a:prstGeom prst="ellipse">
            <a:avLst/>
          </a:prstGeom>
          <a:solidFill>
            <a:srgbClr val="E8B96A"/>
          </a:solidFill>
          <a:ln w="12700">
            <a:solidFill>
              <a:srgbClr val="E8B96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797296" y="4242816"/>
            <a:ext cx="457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📈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6382512" y="4133088"/>
            <a:ext cx="230428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8B9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Metrics Display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382512" y="4443984"/>
            <a:ext cx="230428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850" dirty="0">
                <a:solidFill>
                  <a:srgbClr val="D1D9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Reads model_metrics.txt and displays MAE, RMSE, R² inside st.code() block for transparency.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72400" y="-457200"/>
            <a:ext cx="2286000" cy="2286000"/>
          </a:xfrm>
          <a:prstGeom prst="ellipse">
            <a:avLst/>
          </a:prstGeom>
          <a:solidFill>
            <a:srgbClr val="112D5E">
              <a:alpha val="25000"/>
            </a:srgbClr>
          </a:solidFill>
          <a:ln w="12700">
            <a:solidFill>
              <a:srgbClr val="112D5E">
                <a:alpha val="2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229600" y="274320"/>
            <a:ext cx="1371600" cy="1371600"/>
          </a:xfrm>
          <a:prstGeom prst="ellipse">
            <a:avLst/>
          </a:prstGeom>
          <a:solidFill>
            <a:srgbClr val="1C7EA3">
              <a:alpha val="20000"/>
            </a:srgbClr>
          </a:solidFill>
          <a:ln w="12700">
            <a:solidFill>
              <a:srgbClr val="1C7EA3">
                <a:alpha val="2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274320"/>
            <a:ext cx="1463040" cy="256032"/>
          </a:xfrm>
          <a:prstGeom prst="rect">
            <a:avLst/>
          </a:prstGeom>
          <a:solidFill>
            <a:srgbClr val="1C7EA3"/>
          </a:solidFill>
          <a:ln w="12700">
            <a:solidFill>
              <a:srgbClr val="1C7EA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274320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kern="0" spc="200" dirty="0">
                <a:solidFill>
                  <a:srgbClr val="080D1A"/>
                </a:solidFill>
              </a:rPr>
              <a:t>VISUALIZATION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457200" y="594360"/>
            <a:ext cx="64008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D1B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Heatmap — Correlation Analysis</a:t>
            </a:r>
            <a:endParaRPr lang="en-US" sz="3000" dirty="0"/>
          </a:p>
        </p:txBody>
      </p:sp>
      <p:graphicFrame>
        <p:nvGraphicFramePr>
          <p:cNvPr id="7" name="Chart 0"/>
          <p:cNvGraphicFramePr/>
          <p:nvPr/>
        </p:nvGraphicFramePr>
        <p:xfrm>
          <a:off x="365760" y="1389888"/>
          <a:ext cx="5029200" cy="32918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8" name="Shape 5"/>
          <p:cNvSpPr/>
          <p:nvPr/>
        </p:nvSpPr>
        <p:spPr>
          <a:xfrm>
            <a:off x="5669280" y="1389888"/>
            <a:ext cx="3108960" cy="3291840"/>
          </a:xfrm>
          <a:prstGeom prst="rect">
            <a:avLst/>
          </a:prstGeom>
          <a:solidFill>
            <a:srgbClr val="FFFFFF"/>
          </a:solidFill>
          <a:ln w="6350">
            <a:solidFill>
              <a:srgbClr val="E0E6F0"/>
            </a:solidFill>
            <a:prstDash val="solid"/>
          </a:ln>
          <a:effectLst>
            <a:outerShdw blurRad="889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5669280" y="1389888"/>
            <a:ext cx="3108960" cy="50292"/>
          </a:xfrm>
          <a:prstGeom prst="rect">
            <a:avLst/>
          </a:prstGeom>
          <a:solidFill>
            <a:srgbClr val="1C7EA3"/>
          </a:solidFill>
          <a:ln w="12700">
            <a:solidFill>
              <a:srgbClr val="1C7EA3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833872" y="1508760"/>
            <a:ext cx="2743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Correlations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5760720" y="1938528"/>
            <a:ext cx="2926080" cy="283464"/>
          </a:xfrm>
          <a:prstGeom prst="rect">
            <a:avLst/>
          </a:prstGeom>
          <a:solidFill>
            <a:srgbClr val="F4F6FB"/>
          </a:solidFill>
          <a:ln w="3810">
            <a:solidFill>
              <a:srgbClr val="E0E6F0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833872" y="1975104"/>
            <a:ext cx="17373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D1B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area_sqft</a:t>
            </a:r>
            <a:endParaRPr lang="en-US" sz="950" dirty="0"/>
          </a:p>
        </p:txBody>
      </p:sp>
      <p:sp>
        <p:nvSpPr>
          <p:cNvPr id="13" name="Text 10"/>
          <p:cNvSpPr/>
          <p:nvPr/>
        </p:nvSpPr>
        <p:spPr>
          <a:xfrm>
            <a:off x="7406640" y="1975104"/>
            <a:ext cx="685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0.82</a:t>
            </a:r>
            <a:endParaRPr lang="en-US" sz="950" dirty="0"/>
          </a:p>
        </p:txBody>
      </p:sp>
      <p:sp>
        <p:nvSpPr>
          <p:cNvPr id="14" name="Shape 11"/>
          <p:cNvSpPr/>
          <p:nvPr/>
        </p:nvSpPr>
        <p:spPr>
          <a:xfrm>
            <a:off x="5760720" y="2276856"/>
            <a:ext cx="2926080" cy="283464"/>
          </a:xfrm>
          <a:prstGeom prst="rect">
            <a:avLst/>
          </a:prstGeom>
          <a:solidFill>
            <a:srgbClr val="FFFFFF"/>
          </a:solidFill>
          <a:ln w="3810">
            <a:solidFill>
              <a:srgbClr val="E0E6F0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5833872" y="2313432"/>
            <a:ext cx="17373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D1B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bedrooms</a:t>
            </a:r>
            <a:endParaRPr lang="en-US" sz="950" dirty="0"/>
          </a:p>
        </p:txBody>
      </p:sp>
      <p:sp>
        <p:nvSpPr>
          <p:cNvPr id="16" name="Text 13"/>
          <p:cNvSpPr/>
          <p:nvPr/>
        </p:nvSpPr>
        <p:spPr>
          <a:xfrm>
            <a:off x="7406640" y="2313432"/>
            <a:ext cx="685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0.61</a:t>
            </a:r>
            <a:endParaRPr lang="en-US" sz="950" dirty="0"/>
          </a:p>
        </p:txBody>
      </p:sp>
      <p:sp>
        <p:nvSpPr>
          <p:cNvPr id="17" name="Shape 14"/>
          <p:cNvSpPr/>
          <p:nvPr/>
        </p:nvSpPr>
        <p:spPr>
          <a:xfrm>
            <a:off x="5760720" y="2615184"/>
            <a:ext cx="2926080" cy="283464"/>
          </a:xfrm>
          <a:prstGeom prst="rect">
            <a:avLst/>
          </a:prstGeom>
          <a:solidFill>
            <a:srgbClr val="F4F6FB"/>
          </a:solidFill>
          <a:ln w="3810">
            <a:solidFill>
              <a:srgbClr val="E0E6F0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5833872" y="2651760"/>
            <a:ext cx="17373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D1B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bathrooms</a:t>
            </a:r>
            <a:endParaRPr lang="en-US" sz="950" dirty="0"/>
          </a:p>
        </p:txBody>
      </p:sp>
      <p:sp>
        <p:nvSpPr>
          <p:cNvPr id="19" name="Text 16"/>
          <p:cNvSpPr/>
          <p:nvPr/>
        </p:nvSpPr>
        <p:spPr>
          <a:xfrm>
            <a:off x="7406640" y="2651760"/>
            <a:ext cx="685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0.55</a:t>
            </a:r>
            <a:endParaRPr lang="en-US" sz="950" dirty="0"/>
          </a:p>
        </p:txBody>
      </p:sp>
      <p:sp>
        <p:nvSpPr>
          <p:cNvPr id="20" name="Shape 17"/>
          <p:cNvSpPr/>
          <p:nvPr/>
        </p:nvSpPr>
        <p:spPr>
          <a:xfrm>
            <a:off x="5760720" y="2953512"/>
            <a:ext cx="2926080" cy="283464"/>
          </a:xfrm>
          <a:prstGeom prst="rect">
            <a:avLst/>
          </a:prstGeom>
          <a:solidFill>
            <a:srgbClr val="FFFFFF"/>
          </a:solidFill>
          <a:ln w="3810">
            <a:solidFill>
              <a:srgbClr val="E0E6F0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5833872" y="2990088"/>
            <a:ext cx="17373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D1B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near_metro</a:t>
            </a:r>
            <a:endParaRPr lang="en-US" sz="950" dirty="0"/>
          </a:p>
        </p:txBody>
      </p:sp>
      <p:sp>
        <p:nvSpPr>
          <p:cNvPr id="22" name="Text 19"/>
          <p:cNvSpPr/>
          <p:nvPr/>
        </p:nvSpPr>
        <p:spPr>
          <a:xfrm>
            <a:off x="7406640" y="2990088"/>
            <a:ext cx="685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1C7E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0.45</a:t>
            </a:r>
            <a:endParaRPr lang="en-US" sz="950" dirty="0"/>
          </a:p>
        </p:txBody>
      </p:sp>
      <p:sp>
        <p:nvSpPr>
          <p:cNvPr id="23" name="Shape 20"/>
          <p:cNvSpPr/>
          <p:nvPr/>
        </p:nvSpPr>
        <p:spPr>
          <a:xfrm>
            <a:off x="5760720" y="3291840"/>
            <a:ext cx="2926080" cy="283464"/>
          </a:xfrm>
          <a:prstGeom prst="rect">
            <a:avLst/>
          </a:prstGeom>
          <a:solidFill>
            <a:srgbClr val="F4F6FB"/>
          </a:solidFill>
          <a:ln w="3810">
            <a:solidFill>
              <a:srgbClr val="E0E6F0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5833872" y="3328416"/>
            <a:ext cx="17373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D1B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parking</a:t>
            </a:r>
            <a:endParaRPr lang="en-US" sz="950" dirty="0"/>
          </a:p>
        </p:txBody>
      </p:sp>
      <p:sp>
        <p:nvSpPr>
          <p:cNvPr id="25" name="Text 22"/>
          <p:cNvSpPr/>
          <p:nvPr/>
        </p:nvSpPr>
        <p:spPr>
          <a:xfrm>
            <a:off x="7406640" y="3328416"/>
            <a:ext cx="685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1C7E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0.32</a:t>
            </a:r>
            <a:endParaRPr lang="en-US" sz="950" dirty="0"/>
          </a:p>
        </p:txBody>
      </p:sp>
      <p:sp>
        <p:nvSpPr>
          <p:cNvPr id="26" name="Shape 23"/>
          <p:cNvSpPr/>
          <p:nvPr/>
        </p:nvSpPr>
        <p:spPr>
          <a:xfrm>
            <a:off x="5760720" y="3630168"/>
            <a:ext cx="2926080" cy="283464"/>
          </a:xfrm>
          <a:prstGeom prst="rect">
            <a:avLst/>
          </a:prstGeom>
          <a:solidFill>
            <a:srgbClr val="FFFFFF"/>
          </a:solidFill>
          <a:ln w="3810">
            <a:solidFill>
              <a:srgbClr val="E0E6F0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5833872" y="3666744"/>
            <a:ext cx="17373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D1B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gym</a:t>
            </a:r>
            <a:endParaRPr lang="en-US" sz="950" dirty="0"/>
          </a:p>
        </p:txBody>
      </p:sp>
      <p:sp>
        <p:nvSpPr>
          <p:cNvPr id="28" name="Text 25"/>
          <p:cNvSpPr/>
          <p:nvPr/>
        </p:nvSpPr>
        <p:spPr>
          <a:xfrm>
            <a:off x="7406640" y="3666744"/>
            <a:ext cx="685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E8B9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0.22</a:t>
            </a:r>
            <a:endParaRPr lang="en-US" sz="950" dirty="0"/>
          </a:p>
        </p:txBody>
      </p:sp>
      <p:sp>
        <p:nvSpPr>
          <p:cNvPr id="29" name="Shape 26"/>
          <p:cNvSpPr/>
          <p:nvPr/>
        </p:nvSpPr>
        <p:spPr>
          <a:xfrm>
            <a:off x="5760720" y="3968496"/>
            <a:ext cx="2926080" cy="283464"/>
          </a:xfrm>
          <a:prstGeom prst="rect">
            <a:avLst/>
          </a:prstGeom>
          <a:solidFill>
            <a:srgbClr val="F4F6FB"/>
          </a:solidFill>
          <a:ln w="3810">
            <a:solidFill>
              <a:srgbClr val="E0E6F0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5833872" y="4005072"/>
            <a:ext cx="17373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D1B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pool</a:t>
            </a:r>
            <a:endParaRPr lang="en-US" sz="950" dirty="0"/>
          </a:p>
        </p:txBody>
      </p:sp>
      <p:sp>
        <p:nvSpPr>
          <p:cNvPr id="31" name="Text 28"/>
          <p:cNvSpPr/>
          <p:nvPr/>
        </p:nvSpPr>
        <p:spPr>
          <a:xfrm>
            <a:off x="7406640" y="4005072"/>
            <a:ext cx="685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E8B9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0.19</a:t>
            </a:r>
            <a:endParaRPr lang="en-US" sz="950" dirty="0"/>
          </a:p>
        </p:txBody>
      </p:sp>
      <p:sp>
        <p:nvSpPr>
          <p:cNvPr id="32" name="Shape 29"/>
          <p:cNvSpPr/>
          <p:nvPr/>
        </p:nvSpPr>
        <p:spPr>
          <a:xfrm>
            <a:off x="5760720" y="4306824"/>
            <a:ext cx="2926080" cy="283464"/>
          </a:xfrm>
          <a:prstGeom prst="rect">
            <a:avLst/>
          </a:prstGeom>
          <a:solidFill>
            <a:srgbClr val="FFFFFF"/>
          </a:solidFill>
          <a:ln w="3810">
            <a:solidFill>
              <a:srgbClr val="E0E6F0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5833872" y="4343400"/>
            <a:ext cx="17373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D1B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building_age</a:t>
            </a:r>
            <a:endParaRPr lang="en-US" sz="950" dirty="0"/>
          </a:p>
        </p:txBody>
      </p:sp>
      <p:sp>
        <p:nvSpPr>
          <p:cNvPr id="34" name="Text 31"/>
          <p:cNvSpPr/>
          <p:nvPr/>
        </p:nvSpPr>
        <p:spPr>
          <a:xfrm>
            <a:off x="7406640" y="4343400"/>
            <a:ext cx="685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C89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-0.28</a:t>
            </a:r>
            <a:endParaRPr lang="en-US" sz="950" dirty="0"/>
          </a:p>
        </p:txBody>
      </p:sp>
      <p:sp>
        <p:nvSpPr>
          <p:cNvPr id="35" name="Text 32"/>
          <p:cNvSpPr/>
          <p:nvPr/>
        </p:nvSpPr>
        <p:spPr>
          <a:xfrm>
            <a:off x="5833872" y="4748022"/>
            <a:ext cx="2926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850" i="1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area_sqft is the strongest predictor (r = 0.82). Building age has a negative correlation — newer properties command higher prices.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80D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2743200"/>
            <a:ext cx="4572000" cy="4572000"/>
          </a:xfrm>
          <a:prstGeom prst="ellipse">
            <a:avLst/>
          </a:prstGeom>
          <a:solidFill>
            <a:srgbClr val="C8943A">
              <a:alpha val="10000"/>
            </a:srgbClr>
          </a:solidFill>
          <a:ln w="12700">
            <a:solidFill>
              <a:srgbClr val="C8943A">
                <a:alpha val="1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457200" y="2286000"/>
            <a:ext cx="2743200" cy="2743200"/>
          </a:xfrm>
          <a:prstGeom prst="ellipse">
            <a:avLst/>
          </a:prstGeom>
          <a:solidFill>
            <a:srgbClr val="2D6A4F">
              <a:alpha val="15000"/>
            </a:srgbClr>
          </a:solidFill>
          <a:ln w="12700">
            <a:solidFill>
              <a:srgbClr val="2D6A4F">
                <a:alpha val="1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256032"/>
            <a:ext cx="1371600" cy="256032"/>
          </a:xfrm>
          <a:prstGeom prst="rect">
            <a:avLst/>
          </a:prstGeom>
          <a:solidFill>
            <a:srgbClr val="E8B96A"/>
          </a:solidFill>
          <a:ln w="12700">
            <a:solidFill>
              <a:srgbClr val="E8B96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256032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kern="0" spc="200" dirty="0">
                <a:solidFill>
                  <a:srgbClr val="080D1A"/>
                </a:solidFill>
              </a:rPr>
              <a:t>EDA OUTPUT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457200" y="566928"/>
            <a:ext cx="64008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Area vs Price — Scatter Analysis</a:t>
            </a:r>
            <a:endParaRPr lang="en-US" sz="3000" dirty="0"/>
          </a:p>
        </p:txBody>
      </p:sp>
      <p:graphicFrame>
        <p:nvGraphicFramePr>
          <p:cNvPr id="7" name="Chart 0"/>
          <p:cNvGraphicFramePr/>
          <p:nvPr/>
        </p:nvGraphicFramePr>
        <p:xfrm>
          <a:off x="365760" y="1371600"/>
          <a:ext cx="5212080" cy="33375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8" name="Shape 5"/>
          <p:cNvSpPr/>
          <p:nvPr/>
        </p:nvSpPr>
        <p:spPr>
          <a:xfrm>
            <a:off x="5806440" y="1371600"/>
            <a:ext cx="2971800" cy="731520"/>
          </a:xfrm>
          <a:prstGeom prst="rect">
            <a:avLst/>
          </a:prstGeom>
          <a:solidFill>
            <a:srgbClr val="0F1E3D"/>
          </a:solidFill>
          <a:ln w="8890">
            <a:solidFill>
              <a:srgbClr val="C8943A"/>
            </a:solidFill>
            <a:prstDash val="solid"/>
          </a:ln>
          <a:effectLst>
            <a:outerShdw blurRad="889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5897880" y="1426464"/>
            <a:ext cx="2743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C894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₹21M</a:t>
            </a:r>
            <a:endParaRPr lang="en-US" sz="2600" dirty="0"/>
          </a:p>
        </p:txBody>
      </p:sp>
      <p:sp>
        <p:nvSpPr>
          <p:cNvPr id="10" name="Text 7"/>
          <p:cNvSpPr/>
          <p:nvPr/>
        </p:nvSpPr>
        <p:spPr>
          <a:xfrm>
            <a:off x="5897880" y="1847088"/>
            <a:ext cx="27432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D1D9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Mumbai 4000+ sqft peak</a:t>
            </a:r>
            <a:endParaRPr lang="en-US" sz="900" dirty="0"/>
          </a:p>
        </p:txBody>
      </p:sp>
      <p:sp>
        <p:nvSpPr>
          <p:cNvPr id="11" name="Shape 8"/>
          <p:cNvSpPr/>
          <p:nvPr/>
        </p:nvSpPr>
        <p:spPr>
          <a:xfrm>
            <a:off x="5806440" y="2212848"/>
            <a:ext cx="2971800" cy="731520"/>
          </a:xfrm>
          <a:prstGeom prst="rect">
            <a:avLst/>
          </a:prstGeom>
          <a:solidFill>
            <a:srgbClr val="0F1E3D"/>
          </a:solidFill>
          <a:ln w="8890">
            <a:solidFill>
              <a:srgbClr val="52B788"/>
            </a:solidFill>
            <a:prstDash val="solid"/>
          </a:ln>
          <a:effectLst>
            <a:outerShdw blurRad="889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5897880" y="2267712"/>
            <a:ext cx="2743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52B78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0.82</a:t>
            </a:r>
            <a:endParaRPr lang="en-US" sz="2600" dirty="0"/>
          </a:p>
        </p:txBody>
      </p:sp>
      <p:sp>
        <p:nvSpPr>
          <p:cNvPr id="13" name="Text 10"/>
          <p:cNvSpPr/>
          <p:nvPr/>
        </p:nvSpPr>
        <p:spPr>
          <a:xfrm>
            <a:off x="5897880" y="2688336"/>
            <a:ext cx="27432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D1D9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Correlation: Area ↔ Price</a:t>
            </a:r>
            <a:endParaRPr lang="en-US" sz="900" dirty="0"/>
          </a:p>
        </p:txBody>
      </p:sp>
      <p:sp>
        <p:nvSpPr>
          <p:cNvPr id="14" name="Shape 11"/>
          <p:cNvSpPr/>
          <p:nvPr/>
        </p:nvSpPr>
        <p:spPr>
          <a:xfrm>
            <a:off x="5806440" y="3054096"/>
            <a:ext cx="2971800" cy="731520"/>
          </a:xfrm>
          <a:prstGeom prst="rect">
            <a:avLst/>
          </a:prstGeom>
          <a:solidFill>
            <a:srgbClr val="0F1E3D"/>
          </a:solidFill>
          <a:ln w="8890">
            <a:solidFill>
              <a:srgbClr val="4DB8D0"/>
            </a:solidFill>
            <a:prstDash val="solid"/>
          </a:ln>
          <a:effectLst>
            <a:outerShdw blurRad="889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5" name="Text 12"/>
          <p:cNvSpPr/>
          <p:nvPr/>
        </p:nvSpPr>
        <p:spPr>
          <a:xfrm>
            <a:off x="5897880" y="3108960"/>
            <a:ext cx="2743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4DB8D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2.4×</a:t>
            </a:r>
            <a:endParaRPr lang="en-US" sz="2600" dirty="0"/>
          </a:p>
        </p:txBody>
      </p:sp>
      <p:sp>
        <p:nvSpPr>
          <p:cNvPr id="16" name="Text 13"/>
          <p:cNvSpPr/>
          <p:nvPr/>
        </p:nvSpPr>
        <p:spPr>
          <a:xfrm>
            <a:off x="5897880" y="3529584"/>
            <a:ext cx="27432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D1D9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Mumbai premium vs Pune</a:t>
            </a:r>
            <a:endParaRPr lang="en-US" sz="900" dirty="0"/>
          </a:p>
        </p:txBody>
      </p:sp>
      <p:sp>
        <p:nvSpPr>
          <p:cNvPr id="17" name="Shape 14"/>
          <p:cNvSpPr/>
          <p:nvPr/>
        </p:nvSpPr>
        <p:spPr>
          <a:xfrm>
            <a:off x="5806440" y="3895344"/>
            <a:ext cx="2971800" cy="731520"/>
          </a:xfrm>
          <a:prstGeom prst="rect">
            <a:avLst/>
          </a:prstGeom>
          <a:solidFill>
            <a:srgbClr val="0F1E3D"/>
          </a:solidFill>
          <a:ln w="8890">
            <a:solidFill>
              <a:srgbClr val="E8B96A"/>
            </a:solidFill>
            <a:prstDash val="solid"/>
          </a:ln>
          <a:effectLst>
            <a:outerShdw blurRad="889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8" name="Text 15"/>
          <p:cNvSpPr/>
          <p:nvPr/>
        </p:nvSpPr>
        <p:spPr>
          <a:xfrm>
            <a:off x="5897880" y="3950208"/>
            <a:ext cx="2743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E8B96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500+</a:t>
            </a:r>
            <a:endParaRPr lang="en-US" sz="2600" dirty="0"/>
          </a:p>
        </p:txBody>
      </p:sp>
      <p:sp>
        <p:nvSpPr>
          <p:cNvPr id="19" name="Text 16"/>
          <p:cNvSpPr/>
          <p:nvPr/>
        </p:nvSpPr>
        <p:spPr>
          <a:xfrm>
            <a:off x="5897880" y="4370832"/>
            <a:ext cx="27432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D1D9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sqft — meaningful price jump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72400" y="-457200"/>
            <a:ext cx="2286000" cy="2286000"/>
          </a:xfrm>
          <a:prstGeom prst="ellipse">
            <a:avLst/>
          </a:prstGeom>
          <a:solidFill>
            <a:srgbClr val="112D5E">
              <a:alpha val="25000"/>
            </a:srgbClr>
          </a:solidFill>
          <a:ln w="12700">
            <a:solidFill>
              <a:srgbClr val="112D5E">
                <a:alpha val="2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229600" y="274320"/>
            <a:ext cx="1371600" cy="1371600"/>
          </a:xfrm>
          <a:prstGeom prst="ellipse">
            <a:avLst/>
          </a:prstGeom>
          <a:solidFill>
            <a:srgbClr val="C8943A">
              <a:alpha val="20000"/>
            </a:srgbClr>
          </a:solidFill>
          <a:ln w="12700">
            <a:solidFill>
              <a:srgbClr val="C8943A">
                <a:alpha val="2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274320"/>
            <a:ext cx="1280160" cy="256032"/>
          </a:xfrm>
          <a:prstGeom prst="rect">
            <a:avLst/>
          </a:prstGeom>
          <a:solidFill>
            <a:srgbClr val="C8943A"/>
          </a:solidFill>
          <a:ln w="12700">
            <a:solidFill>
              <a:srgbClr val="C8943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274320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kern="0" spc="200" dirty="0">
                <a:solidFill>
                  <a:srgbClr val="080D1A"/>
                </a:solidFill>
              </a:rPr>
              <a:t>APPLICATION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457200" y="594360"/>
            <a:ext cx="64008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D1B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Streamlit Web Interface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365760" y="1389888"/>
            <a:ext cx="8412480" cy="3337560"/>
          </a:xfrm>
          <a:prstGeom prst="rect">
            <a:avLst/>
          </a:prstGeom>
          <a:solidFill>
            <a:srgbClr val="0D1B3E"/>
          </a:solidFill>
          <a:ln w="6350">
            <a:solidFill>
              <a:srgbClr val="112D5E"/>
            </a:solidFill>
            <a:prstDash val="solid"/>
          </a:ln>
          <a:effectLst>
            <a:outerShdw blurRad="177800" dist="508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65760" y="1389888"/>
            <a:ext cx="8412480" cy="384048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1417320"/>
            <a:ext cx="54864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🏠  AI-Based Real Estate Valuation System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48640" y="1618488"/>
            <a:ext cx="5486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Professional Machine Learning Analytics Platform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457200" y="2130552"/>
            <a:ext cx="3749040" cy="2505456"/>
          </a:xfrm>
          <a:prstGeom prst="rect">
            <a:avLst/>
          </a:prstGeom>
          <a:solidFill>
            <a:srgbClr val="111827"/>
          </a:solidFill>
          <a:ln w="5080">
            <a:solidFill>
              <a:srgbClr val="1E3A5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94360" y="1865376"/>
            <a:ext cx="1554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 City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594360" y="2066544"/>
            <a:ext cx="3749040" cy="13716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58368" y="2057400"/>
            <a:ext cx="365760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D1D9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Mumbai  ▾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594360" y="2231136"/>
            <a:ext cx="1554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Area (Sq.ft)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594360" y="2432304"/>
            <a:ext cx="3749040" cy="13716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58368" y="2423160"/>
            <a:ext cx="365760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D1D9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──────────────●  2,400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594360" y="2596896"/>
            <a:ext cx="1554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Bedrooms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94360" y="2798064"/>
            <a:ext cx="3749040" cy="13716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58368" y="2788920"/>
            <a:ext cx="365760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D1D9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──────────●  3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594360" y="2962656"/>
            <a:ext cx="1554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Bathrooms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594360" y="3163824"/>
            <a:ext cx="3749040" cy="13716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58368" y="3154680"/>
            <a:ext cx="365760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D1D9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──────────●  2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594360" y="3328416"/>
            <a:ext cx="1554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Parking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594360" y="3529584"/>
            <a:ext cx="3749040" cy="13716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58368" y="3520440"/>
            <a:ext cx="365760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D1D9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  ▾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594360" y="3694176"/>
            <a:ext cx="1554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 Age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594360" y="3895344"/>
            <a:ext cx="3749040" cy="13716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58368" y="3886200"/>
            <a:ext cx="365760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D1D9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────●  5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594360" y="4059936"/>
            <a:ext cx="1554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Near Metro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594360" y="4261104"/>
            <a:ext cx="3749040" cy="13716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58368" y="4251960"/>
            <a:ext cx="365760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D1D9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  ▾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>
            <a:off x="594360" y="4343400"/>
            <a:ext cx="3749040" cy="228600"/>
          </a:xfrm>
          <a:prstGeom prst="rect">
            <a:avLst/>
          </a:prstGeom>
          <a:solidFill>
            <a:srgbClr val="1C7EA3"/>
          </a:solidFill>
          <a:ln w="12700">
            <a:solidFill>
              <a:srgbClr val="1C7EA3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94360" y="4343400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 Predict Property Price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4663440" y="1801368"/>
            <a:ext cx="3749040" cy="512064"/>
          </a:xfrm>
          <a:prstGeom prst="rect">
            <a:avLst/>
          </a:prstGeom>
          <a:solidFill>
            <a:srgbClr val="0A3D0C"/>
          </a:solidFill>
          <a:ln w="10160">
            <a:solidFill>
              <a:srgbClr val="1A7E1E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754880" y="182880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Estimated Property Price:  ₹ 1,24,50,000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4663440" y="2395728"/>
            <a:ext cx="3749040" cy="2240280"/>
          </a:xfrm>
          <a:prstGeom prst="rect">
            <a:avLst/>
          </a:prstGeom>
          <a:solidFill>
            <a:srgbClr val="111827"/>
          </a:solidFill>
          <a:ln w="5080">
            <a:solidFill>
              <a:srgbClr val="1E3A5F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800600" y="2487168"/>
            <a:ext cx="3474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E8B9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 Property Price Distribution</a:t>
            </a:r>
            <a:endParaRPr lang="en-US" sz="950" dirty="0"/>
          </a:p>
        </p:txBody>
      </p:sp>
      <p:graphicFrame>
        <p:nvGraphicFramePr>
          <p:cNvPr id="39" name="Chart 0"/>
          <p:cNvGraphicFramePr/>
          <p:nvPr/>
        </p:nvGraphicFramePr>
        <p:xfrm>
          <a:off x="4663440" y="2788920"/>
          <a:ext cx="3749040" cy="17373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80D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731520" y="2286000"/>
            <a:ext cx="3657600" cy="3657600"/>
          </a:xfrm>
          <a:prstGeom prst="ellipse">
            <a:avLst/>
          </a:prstGeom>
          <a:solidFill>
            <a:srgbClr val="C8943A">
              <a:alpha val="10000"/>
            </a:srgbClr>
          </a:solidFill>
          <a:ln w="12700">
            <a:solidFill>
              <a:srgbClr val="C8943A">
                <a:alpha val="1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58000" y="-457200"/>
            <a:ext cx="3200400" cy="3200400"/>
          </a:xfrm>
          <a:prstGeom prst="ellipse">
            <a:avLst/>
          </a:prstGeom>
          <a:solidFill>
            <a:srgbClr val="112D5E">
              <a:alpha val="18000"/>
            </a:srgbClr>
          </a:solidFill>
          <a:ln w="12700">
            <a:solidFill>
              <a:srgbClr val="112D5E">
                <a:alpha val="18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256032"/>
            <a:ext cx="1097280" cy="256032"/>
          </a:xfrm>
          <a:prstGeom prst="rect">
            <a:avLst/>
          </a:prstGeom>
          <a:solidFill>
            <a:srgbClr val="C8943A"/>
          </a:solidFill>
          <a:ln w="12700">
            <a:solidFill>
              <a:srgbClr val="C8943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256032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kern="0" spc="200" dirty="0">
                <a:solidFill>
                  <a:srgbClr val="080D1A"/>
                </a:solidFill>
              </a:rPr>
              <a:t>RESULTS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457200" y="566928"/>
            <a:ext cx="73152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Prediction Output &amp; Model Metrics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365760" y="1389888"/>
            <a:ext cx="4206240" cy="3337560"/>
          </a:xfrm>
          <a:prstGeom prst="rect">
            <a:avLst/>
          </a:prstGeom>
          <a:solidFill>
            <a:srgbClr val="0F1E3D"/>
          </a:solidFill>
          <a:ln w="8890">
            <a:solidFill>
              <a:srgbClr val="C8943A"/>
            </a:solidFill>
            <a:prstDash val="solid"/>
          </a:ln>
          <a:effectLst>
            <a:outerShdw blurRad="889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65760" y="1389888"/>
            <a:ext cx="4206240" cy="50292"/>
          </a:xfrm>
          <a:prstGeom prst="rect">
            <a:avLst/>
          </a:prstGeom>
          <a:solidFill>
            <a:srgbClr val="C8943A"/>
          </a:solidFill>
          <a:ln w="12700">
            <a:solidFill>
              <a:srgbClr val="C8943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1508760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8B9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Prediction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30352" y="1938528"/>
            <a:ext cx="1371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City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1920240" y="1938528"/>
            <a:ext cx="24688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Mumbai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530352" y="2212848"/>
            <a:ext cx="1371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Area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1920240" y="2212848"/>
            <a:ext cx="24688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2,400 sqft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530352" y="2487168"/>
            <a:ext cx="1371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Bedrooms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1920240" y="2487168"/>
            <a:ext cx="24688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530352" y="2761488"/>
            <a:ext cx="1371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Bathrooms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1920240" y="2761488"/>
            <a:ext cx="24688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530352" y="3035808"/>
            <a:ext cx="1371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Parking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1920240" y="3035808"/>
            <a:ext cx="24688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530352" y="3310128"/>
            <a:ext cx="1371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 Age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1920240" y="3310128"/>
            <a:ext cx="24688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yrs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530352" y="3584448"/>
            <a:ext cx="1371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Near Metro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1920240" y="3584448"/>
            <a:ext cx="24688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530352" y="3858768"/>
            <a:ext cx="1371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Gym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1920240" y="3858768"/>
            <a:ext cx="24688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530352" y="4133088"/>
            <a:ext cx="1371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Pool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1920240" y="4133088"/>
            <a:ext cx="24688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457200" y="4297680"/>
            <a:ext cx="4023360" cy="347472"/>
          </a:xfrm>
          <a:prstGeom prst="rect">
            <a:avLst/>
          </a:prstGeom>
          <a:solidFill>
            <a:srgbClr val="0A3D1A"/>
          </a:solidFill>
          <a:ln w="10160">
            <a:solidFill>
              <a:srgbClr val="1A7E3E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48640" y="4315968"/>
            <a:ext cx="38404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4ADE8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✅  ₹ 1,24,50,000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4754880" y="1389888"/>
            <a:ext cx="4023360" cy="1371600"/>
          </a:xfrm>
          <a:prstGeom prst="rect">
            <a:avLst/>
          </a:prstGeom>
          <a:solidFill>
            <a:srgbClr val="0F1E35"/>
          </a:solidFill>
          <a:ln w="10160">
            <a:solidFill>
              <a:srgbClr val="1E3A5F"/>
            </a:solidFill>
            <a:prstDash val="solid"/>
          </a:ln>
          <a:effectLst>
            <a:outerShdw blurRad="889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4754880" y="1389888"/>
            <a:ext cx="4023360" cy="256032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773168" y="1399032"/>
            <a:ext cx="398678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B9BB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model_metrics.txt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4892040" y="1719072"/>
            <a:ext cx="374904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45000"/>
              </a:lnSpc>
              <a:buNone/>
            </a:pPr>
            <a:r>
              <a:rPr lang="en-US" sz="950" dirty="0">
                <a:solidFill>
                  <a:srgbClr val="E8B9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========== MODEL EVALUATION ==========</a:t>
            </a:r>
            <a:endParaRPr lang="en-US" sz="950" dirty="0"/>
          </a:p>
          <a:p>
            <a:pPr marL="0" indent="0">
              <a:lnSpc>
                <a:spcPct val="145000"/>
              </a:lnSpc>
              <a:buNone/>
            </a:pPr>
            <a:r>
              <a:rPr lang="en-US" sz="950" dirty="0">
                <a:solidFill>
                  <a:srgbClr val="D1D9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MAE       : 48,230.50</a:t>
            </a:r>
            <a:endParaRPr lang="en-US" sz="950" dirty="0"/>
          </a:p>
          <a:p>
            <a:pPr marL="0" indent="0">
              <a:lnSpc>
                <a:spcPct val="145000"/>
              </a:lnSpc>
              <a:buNone/>
            </a:pPr>
            <a:r>
              <a:rPr lang="en-US" sz="950" dirty="0">
                <a:solidFill>
                  <a:srgbClr val="D1D9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RMSE      : 72,814.35</a:t>
            </a:r>
            <a:endParaRPr lang="en-US" sz="950" dirty="0"/>
          </a:p>
          <a:p>
            <a:pPr marL="0" indent="0">
              <a:lnSpc>
                <a:spcPct val="145000"/>
              </a:lnSpc>
              <a:buNone/>
            </a:pPr>
            <a:r>
              <a:rPr lang="en-US" sz="950" dirty="0">
                <a:solidFill>
                  <a:srgbClr val="52B7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R2 Score  : 0.9612</a:t>
            </a:r>
            <a:endParaRPr lang="en-US" sz="950" dirty="0"/>
          </a:p>
        </p:txBody>
      </p:sp>
      <p:graphicFrame>
        <p:nvGraphicFramePr>
          <p:cNvPr id="34" name="Chart 0"/>
          <p:cNvGraphicFramePr/>
          <p:nvPr/>
        </p:nvGraphicFramePr>
        <p:xfrm>
          <a:off x="4754880" y="2852928"/>
          <a:ext cx="4023360" cy="18745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80D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2743200"/>
            <a:ext cx="4572000" cy="4572000"/>
          </a:xfrm>
          <a:prstGeom prst="ellipse">
            <a:avLst/>
          </a:prstGeom>
          <a:solidFill>
            <a:srgbClr val="2D6A4F">
              <a:alpha val="10000"/>
            </a:srgbClr>
          </a:solidFill>
          <a:ln w="12700">
            <a:solidFill>
              <a:srgbClr val="2D6A4F">
                <a:alpha val="1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256032"/>
            <a:ext cx="1005840" cy="256032"/>
          </a:xfrm>
          <a:prstGeom prst="rect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256032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kern="0" spc="200" dirty="0">
                <a:solidFill>
                  <a:srgbClr val="080D1A"/>
                </a:solidFill>
              </a:rPr>
              <a:t>SETUP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457200" y="566928"/>
            <a:ext cx="73152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Requirements &amp; Execution Guide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365760" y="1389888"/>
            <a:ext cx="4114800" cy="3337560"/>
          </a:xfrm>
          <a:prstGeom prst="rect">
            <a:avLst/>
          </a:prstGeom>
          <a:solidFill>
            <a:srgbClr val="0F1E3D"/>
          </a:solidFill>
          <a:ln w="8890">
            <a:solidFill>
              <a:srgbClr val="2D6A4F"/>
            </a:solidFill>
            <a:prstDash val="solid"/>
          </a:ln>
          <a:effectLst>
            <a:outerShdw blurRad="889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1389888"/>
            <a:ext cx="4114800" cy="50292"/>
          </a:xfrm>
          <a:prstGeom prst="rect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1508760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52B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📦  requirements.txt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75488" y="1938528"/>
            <a:ext cx="3886200" cy="274320"/>
          </a:xfrm>
          <a:prstGeom prst="rect">
            <a:avLst/>
          </a:prstGeom>
          <a:solidFill>
            <a:srgbClr val="132347"/>
          </a:solidFill>
          <a:ln w="3810">
            <a:solidFill>
              <a:srgbClr val="1E3A5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66928" y="2029968"/>
            <a:ext cx="91440" cy="91440"/>
          </a:xfrm>
          <a:prstGeom prst="ellipse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31520" y="1975104"/>
            <a:ext cx="34747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B9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streamlit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75488" y="2286000"/>
            <a:ext cx="3886200" cy="274320"/>
          </a:xfrm>
          <a:prstGeom prst="rect">
            <a:avLst/>
          </a:prstGeom>
          <a:solidFill>
            <a:srgbClr val="0F1E3D"/>
          </a:solidFill>
          <a:ln w="3810">
            <a:solidFill>
              <a:srgbClr val="1E3A5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66928" y="2377440"/>
            <a:ext cx="91440" cy="91440"/>
          </a:xfrm>
          <a:prstGeom prst="ellipse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31520" y="2322576"/>
            <a:ext cx="34747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B9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pandas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75488" y="2633472"/>
            <a:ext cx="3886200" cy="274320"/>
          </a:xfrm>
          <a:prstGeom prst="rect">
            <a:avLst/>
          </a:prstGeom>
          <a:solidFill>
            <a:srgbClr val="132347"/>
          </a:solidFill>
          <a:ln w="3810">
            <a:solidFill>
              <a:srgbClr val="1E3A5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66928" y="2724912"/>
            <a:ext cx="91440" cy="91440"/>
          </a:xfrm>
          <a:prstGeom prst="ellipse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31520" y="2670048"/>
            <a:ext cx="34747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B9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numpy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75488" y="2980944"/>
            <a:ext cx="3886200" cy="274320"/>
          </a:xfrm>
          <a:prstGeom prst="rect">
            <a:avLst/>
          </a:prstGeom>
          <a:solidFill>
            <a:srgbClr val="0F1E3D"/>
          </a:solidFill>
          <a:ln w="3810">
            <a:solidFill>
              <a:srgbClr val="1E3A5F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66928" y="3072384"/>
            <a:ext cx="91440" cy="91440"/>
          </a:xfrm>
          <a:prstGeom prst="ellipse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31520" y="3017520"/>
            <a:ext cx="34747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B9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scikit-learn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75488" y="3328416"/>
            <a:ext cx="3886200" cy="274320"/>
          </a:xfrm>
          <a:prstGeom prst="rect">
            <a:avLst/>
          </a:prstGeom>
          <a:solidFill>
            <a:srgbClr val="132347"/>
          </a:solidFill>
          <a:ln w="3810">
            <a:solidFill>
              <a:srgbClr val="1E3A5F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66928" y="3419856"/>
            <a:ext cx="91440" cy="91440"/>
          </a:xfrm>
          <a:prstGeom prst="ellipse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31520" y="3364992"/>
            <a:ext cx="34747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B9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plotly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75488" y="3675888"/>
            <a:ext cx="3886200" cy="274320"/>
          </a:xfrm>
          <a:prstGeom prst="rect">
            <a:avLst/>
          </a:prstGeom>
          <a:solidFill>
            <a:srgbClr val="0F1E3D"/>
          </a:solidFill>
          <a:ln w="3810">
            <a:solidFill>
              <a:srgbClr val="1E3A5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66928" y="3767328"/>
            <a:ext cx="91440" cy="91440"/>
          </a:xfrm>
          <a:prstGeom prst="ellipse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31520" y="3712464"/>
            <a:ext cx="34747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B9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matplotlib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475488" y="4023360"/>
            <a:ext cx="3886200" cy="274320"/>
          </a:xfrm>
          <a:prstGeom prst="rect">
            <a:avLst/>
          </a:prstGeom>
          <a:solidFill>
            <a:srgbClr val="132347"/>
          </a:solidFill>
          <a:ln w="3810">
            <a:solidFill>
              <a:srgbClr val="1E3A5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566928" y="4114800"/>
            <a:ext cx="91440" cy="91440"/>
          </a:xfrm>
          <a:prstGeom prst="ellipse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31520" y="4059936"/>
            <a:ext cx="34747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B9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seaborn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475488" y="4370832"/>
            <a:ext cx="3886200" cy="274320"/>
          </a:xfrm>
          <a:prstGeom prst="rect">
            <a:avLst/>
          </a:prstGeom>
          <a:solidFill>
            <a:srgbClr val="0F1E3D"/>
          </a:solidFill>
          <a:ln w="3810">
            <a:solidFill>
              <a:srgbClr val="1E3A5F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566928" y="4462272"/>
            <a:ext cx="91440" cy="91440"/>
          </a:xfrm>
          <a:prstGeom prst="ellipse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31520" y="4407408"/>
            <a:ext cx="34747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B9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pickle-mixin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457200" y="4572000"/>
            <a:ext cx="393192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52B7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pip install -r requirements.txt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4663440" y="1389888"/>
            <a:ext cx="4114800" cy="3337560"/>
          </a:xfrm>
          <a:prstGeom prst="rect">
            <a:avLst/>
          </a:prstGeom>
          <a:solidFill>
            <a:srgbClr val="0F1E35"/>
          </a:solidFill>
          <a:ln w="10160">
            <a:solidFill>
              <a:srgbClr val="1E3A5F"/>
            </a:solidFill>
            <a:prstDash val="solid"/>
          </a:ln>
          <a:effectLst>
            <a:outerShdw blurRad="889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4663440" y="1389888"/>
            <a:ext cx="4114800" cy="27432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681728" y="1399032"/>
            <a:ext cx="407822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B9BB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terminal</a:t>
            </a:r>
            <a:endParaRPr lang="en-US" sz="850" dirty="0"/>
          </a:p>
        </p:txBody>
      </p:sp>
      <p:sp>
        <p:nvSpPr>
          <p:cNvPr id="37" name="Text 35"/>
          <p:cNvSpPr/>
          <p:nvPr/>
        </p:nvSpPr>
        <p:spPr>
          <a:xfrm>
            <a:off x="4800600" y="1737360"/>
            <a:ext cx="3840480" cy="2907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8000"/>
              </a:lnSpc>
              <a:buNone/>
            </a:pPr>
            <a:r>
              <a:rPr lang="en-US" sz="950" dirty="0">
                <a:solidFill>
                  <a:srgbClr val="8B9BB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1. Install dependencies</a:t>
            </a:r>
            <a:endParaRPr lang="en-US" sz="950" dirty="0"/>
          </a:p>
          <a:p>
            <a:pPr marL="0" indent="0">
              <a:lnSpc>
                <a:spcPct val="138000"/>
              </a:lnSpc>
              <a:buNone/>
            </a:pPr>
            <a:r>
              <a:rPr lang="en-US" sz="950" b="1" dirty="0">
                <a:solidFill>
                  <a:srgbClr val="52B7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pip install -r requirements.txt</a:t>
            </a:r>
            <a:endParaRPr lang="en-US" sz="950" dirty="0"/>
          </a:p>
          <a:p>
            <a:pPr marL="0" indent="0">
              <a:lnSpc>
                <a:spcPct val="138000"/>
              </a:lnSpc>
              <a:buNone/>
            </a:pPr>
            <a:endParaRPr lang="en-US" sz="950" dirty="0"/>
          </a:p>
          <a:p>
            <a:pPr marL="0" indent="0">
              <a:lnSpc>
                <a:spcPct val="138000"/>
              </a:lnSpc>
              <a:buNone/>
            </a:pPr>
            <a:r>
              <a:rPr lang="en-US" sz="950" dirty="0">
                <a:solidFill>
                  <a:srgbClr val="8B9BB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2. Run EDA Analysis</a:t>
            </a:r>
            <a:endParaRPr lang="en-US" sz="950" dirty="0"/>
          </a:p>
          <a:p>
            <a:pPr marL="0" indent="0">
              <a:lnSpc>
                <a:spcPct val="138000"/>
              </a:lnSpc>
              <a:buNone/>
            </a:pPr>
            <a:r>
              <a:rPr lang="en-US" sz="950" b="1" dirty="0">
                <a:solidFill>
                  <a:srgbClr val="E8B9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cd scripts</a:t>
            </a:r>
            <a:endParaRPr lang="en-US" sz="950" dirty="0"/>
          </a:p>
          <a:p>
            <a:pPr marL="0" indent="0">
              <a:lnSpc>
                <a:spcPct val="138000"/>
              </a:lnSpc>
              <a:buNone/>
            </a:pPr>
            <a:r>
              <a:rPr lang="en-US" sz="950" b="1" dirty="0">
                <a:solidFill>
                  <a:srgbClr val="E8B9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 eda_analysis.py</a:t>
            </a:r>
            <a:endParaRPr lang="en-US" sz="950" dirty="0"/>
          </a:p>
          <a:p>
            <a:pPr marL="0" indent="0">
              <a:lnSpc>
                <a:spcPct val="138000"/>
              </a:lnSpc>
              <a:buNone/>
            </a:pPr>
            <a:endParaRPr lang="en-US" sz="950" dirty="0"/>
          </a:p>
          <a:p>
            <a:pPr marL="0" indent="0">
              <a:lnSpc>
                <a:spcPct val="138000"/>
              </a:lnSpc>
              <a:buNone/>
            </a:pPr>
            <a:r>
              <a:rPr lang="en-US" sz="950" dirty="0">
                <a:solidFill>
                  <a:srgbClr val="8B9BB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3. Train the ML Model</a:t>
            </a:r>
            <a:endParaRPr lang="en-US" sz="950" dirty="0"/>
          </a:p>
          <a:p>
            <a:pPr marL="0" indent="0">
              <a:lnSpc>
                <a:spcPct val="138000"/>
              </a:lnSpc>
              <a:buNone/>
            </a:pPr>
            <a:r>
              <a:rPr lang="en-US" sz="950" b="1" dirty="0">
                <a:solidFill>
                  <a:srgbClr val="4DB8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 train_model.py</a:t>
            </a:r>
            <a:endParaRPr lang="en-US" sz="950" dirty="0"/>
          </a:p>
          <a:p>
            <a:pPr marL="0" indent="0">
              <a:lnSpc>
                <a:spcPct val="138000"/>
              </a:lnSpc>
              <a:buNone/>
            </a:pPr>
            <a:endParaRPr lang="en-US" sz="950" dirty="0"/>
          </a:p>
          <a:p>
            <a:pPr marL="0" indent="0">
              <a:lnSpc>
                <a:spcPct val="138000"/>
              </a:lnSpc>
              <a:buNone/>
            </a:pPr>
            <a:r>
              <a:rPr lang="en-US" sz="950" dirty="0">
                <a:solidFill>
                  <a:srgbClr val="8B9BB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4. Launch Streamlit App</a:t>
            </a:r>
            <a:endParaRPr lang="en-US" sz="950" dirty="0"/>
          </a:p>
          <a:p>
            <a:pPr marL="0" indent="0">
              <a:lnSpc>
                <a:spcPct val="138000"/>
              </a:lnSpc>
              <a:buNone/>
            </a:pPr>
            <a:r>
              <a:rPr lang="en-US" sz="950" b="1" dirty="0">
                <a:solidFill>
                  <a:srgbClr val="E8B9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cd ../streamlit</a:t>
            </a:r>
            <a:endParaRPr lang="en-US" sz="950" dirty="0"/>
          </a:p>
          <a:p>
            <a:pPr marL="0" indent="0">
              <a:lnSpc>
                <a:spcPct val="138000"/>
              </a:lnSpc>
              <a:buNone/>
            </a:pPr>
            <a:r>
              <a:rPr lang="en-US" sz="950" b="1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streamlit run app.py</a:t>
            </a:r>
            <a:endParaRPr lang="en-US" sz="950" dirty="0"/>
          </a:p>
          <a:p>
            <a:pPr marL="0" indent="0">
              <a:lnSpc>
                <a:spcPct val="138000"/>
              </a:lnSpc>
              <a:buNone/>
            </a:pPr>
            <a:endParaRPr lang="en-US" sz="950" dirty="0"/>
          </a:p>
          <a:p>
            <a:pPr marL="0" indent="0">
              <a:lnSpc>
                <a:spcPct val="138000"/>
              </a:lnSpc>
              <a:buNone/>
            </a:pPr>
            <a:r>
              <a:rPr lang="en-US" sz="950" dirty="0">
                <a:solidFill>
                  <a:srgbClr val="8B9BB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App opens at http://localhost:8501</a:t>
            </a:r>
            <a:endParaRPr lang="en-US" sz="9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80D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0" y="-457200"/>
            <a:ext cx="5029200" cy="5029200"/>
          </a:xfrm>
          <a:prstGeom prst="ellipse">
            <a:avLst/>
          </a:prstGeom>
          <a:solidFill>
            <a:srgbClr val="C8943A">
              <a:alpha val="10000"/>
            </a:srgbClr>
          </a:solidFill>
          <a:ln w="12700">
            <a:solidFill>
              <a:srgbClr val="C8943A">
                <a:alpha val="1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371600" y="2286000"/>
            <a:ext cx="3657600" cy="3657600"/>
          </a:xfrm>
          <a:prstGeom prst="ellipse">
            <a:avLst/>
          </a:prstGeom>
          <a:solidFill>
            <a:srgbClr val="112D5E">
              <a:alpha val="20000"/>
            </a:srgbClr>
          </a:solidFill>
          <a:ln w="12700">
            <a:solidFill>
              <a:srgbClr val="112D5E">
                <a:alpha val="2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594360"/>
            <a:ext cx="50292" cy="4114800"/>
          </a:xfrm>
          <a:prstGeom prst="rect">
            <a:avLst/>
          </a:prstGeom>
          <a:solidFill>
            <a:srgbClr val="C8943A"/>
          </a:solidFill>
          <a:ln w="12700">
            <a:solidFill>
              <a:srgbClr val="C8943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58368" y="566928"/>
            <a:ext cx="1371600" cy="256032"/>
          </a:xfrm>
          <a:prstGeom prst="rect">
            <a:avLst/>
          </a:prstGeom>
          <a:solidFill>
            <a:srgbClr val="C8943A"/>
          </a:solidFill>
          <a:ln w="12700">
            <a:solidFill>
              <a:srgbClr val="C8943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58368" y="566928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kern="0" spc="200" dirty="0">
                <a:solidFill>
                  <a:srgbClr val="080D1A"/>
                </a:solidFill>
              </a:rPr>
              <a:t>CONCLUSION</a:t>
            </a:r>
            <a:endParaRPr lang="en-US" sz="700" dirty="0"/>
          </a:p>
        </p:txBody>
      </p:sp>
      <p:sp>
        <p:nvSpPr>
          <p:cNvPr id="7" name="Text 5"/>
          <p:cNvSpPr/>
          <p:nvPr/>
        </p:nvSpPr>
        <p:spPr>
          <a:xfrm>
            <a:off x="658368" y="896112"/>
            <a:ext cx="47548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</a:t>
            </a:r>
            <a:endParaRPr lang="en-US" sz="4400" dirty="0"/>
          </a:p>
          <a:p>
            <a:pPr marL="0" indent="0">
              <a:buNone/>
            </a:pPr>
            <a:r>
              <a:rPr lang="en-US" sz="4400" b="1" dirty="0">
                <a:solidFill>
                  <a:srgbClr val="E8B96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Summary</a:t>
            </a:r>
            <a:endParaRPr lang="en-US" sz="4400" dirty="0"/>
          </a:p>
        </p:txBody>
      </p:sp>
      <p:sp>
        <p:nvSpPr>
          <p:cNvPr id="8" name="Text 6"/>
          <p:cNvSpPr/>
          <p:nvPr/>
        </p:nvSpPr>
        <p:spPr>
          <a:xfrm>
            <a:off x="658368" y="2423160"/>
            <a:ext cx="5029200" cy="2468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65000"/>
              </a:lnSpc>
              <a:buNone/>
            </a:pPr>
            <a:r>
              <a:rPr lang="en-US" sz="1150" dirty="0">
                <a:solidFill>
                  <a:srgbClr val="D1D9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Random Forest (200 trees, depth 18) → R² = 0.96, best model</a:t>
            </a:r>
            <a:endParaRPr lang="en-US" sz="1150" dirty="0"/>
          </a:p>
          <a:p>
            <a:pPr marL="0" indent="0">
              <a:lnSpc>
                <a:spcPct val="165000"/>
              </a:lnSpc>
              <a:buNone/>
            </a:pPr>
            <a:r>
              <a:rPr lang="en-US" sz="1150" dirty="0">
                <a:solidFill>
                  <a:srgbClr val="D1D9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10,000+ records across 6 Indian metros: Mumbai to Bangalore</a:t>
            </a:r>
            <a:endParaRPr lang="en-US" sz="1150" dirty="0"/>
          </a:p>
          <a:p>
            <a:pPr marL="0" indent="0">
              <a:lnSpc>
                <a:spcPct val="165000"/>
              </a:lnSpc>
              <a:buNone/>
            </a:pPr>
            <a:r>
              <a:rPr lang="en-US" sz="1150" dirty="0">
                <a:solidFill>
                  <a:srgbClr val="D1D9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EDA exports heatmap.png &amp; area_vs_price.png to /output/</a:t>
            </a:r>
            <a:endParaRPr lang="en-US" sz="1150" dirty="0"/>
          </a:p>
          <a:p>
            <a:pPr marL="0" indent="0">
              <a:lnSpc>
                <a:spcPct val="165000"/>
              </a:lnSpc>
              <a:buNone/>
            </a:pPr>
            <a:r>
              <a:rPr lang="en-US" sz="1150" dirty="0">
                <a:solidFill>
                  <a:srgbClr val="D1D9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Streamlit app: real-time ₹ prediction + Plotly analytics</a:t>
            </a:r>
            <a:endParaRPr lang="en-US" sz="1150" dirty="0"/>
          </a:p>
          <a:p>
            <a:pPr marL="0" indent="0">
              <a:lnSpc>
                <a:spcPct val="165000"/>
              </a:lnSpc>
              <a:buNone/>
            </a:pPr>
            <a:r>
              <a:rPr lang="en-US" sz="1150" dirty="0">
                <a:solidFill>
                  <a:srgbClr val="D1D9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Full project structure: dataset/, scripts/, streamlit/, output/</a:t>
            </a:r>
            <a:endParaRPr lang="en-US" sz="1150" dirty="0"/>
          </a:p>
          <a:p>
            <a:pPr marL="0" indent="0">
              <a:lnSpc>
                <a:spcPct val="165000"/>
              </a:lnSpc>
              <a:buNone/>
            </a:pPr>
            <a:r>
              <a:rPr lang="en-US" sz="1150" dirty="0">
                <a:solidFill>
                  <a:srgbClr val="D1D9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Complete pipeline: data → EDA → train → pickle → serve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217920" y="1261872"/>
            <a:ext cx="1417320" cy="1325880"/>
          </a:xfrm>
          <a:prstGeom prst="rect">
            <a:avLst/>
          </a:prstGeom>
          <a:solidFill>
            <a:srgbClr val="0F1E3D"/>
          </a:solidFill>
          <a:ln w="8890">
            <a:solidFill>
              <a:srgbClr val="C8943A"/>
            </a:solidFill>
            <a:prstDash val="solid"/>
          </a:ln>
          <a:effectLst>
            <a:outerShdw blurRad="889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217920" y="1426464"/>
            <a:ext cx="1417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C894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0.96</a:t>
            </a:r>
            <a:endParaRPr lang="en-US" sz="3400" dirty="0"/>
          </a:p>
        </p:txBody>
      </p:sp>
      <p:sp>
        <p:nvSpPr>
          <p:cNvPr id="11" name="Text 9"/>
          <p:cNvSpPr/>
          <p:nvPr/>
        </p:nvSpPr>
        <p:spPr>
          <a:xfrm>
            <a:off x="6217920" y="2139696"/>
            <a:ext cx="1417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R² Score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7772400" y="1261872"/>
            <a:ext cx="1417320" cy="1325880"/>
          </a:xfrm>
          <a:prstGeom prst="rect">
            <a:avLst/>
          </a:prstGeom>
          <a:solidFill>
            <a:srgbClr val="0F1E3D"/>
          </a:solidFill>
          <a:ln w="8890">
            <a:solidFill>
              <a:srgbClr val="52B788"/>
            </a:solidFill>
            <a:prstDash val="solid"/>
          </a:ln>
          <a:effectLst>
            <a:outerShdw blurRad="889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7772400" y="1426464"/>
            <a:ext cx="1417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52B78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200</a:t>
            </a:r>
            <a:endParaRPr lang="en-US" sz="3400" dirty="0"/>
          </a:p>
        </p:txBody>
      </p:sp>
      <p:sp>
        <p:nvSpPr>
          <p:cNvPr id="14" name="Text 12"/>
          <p:cNvSpPr/>
          <p:nvPr/>
        </p:nvSpPr>
        <p:spPr>
          <a:xfrm>
            <a:off x="7772400" y="2139696"/>
            <a:ext cx="1417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 Trees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6217920" y="2770632"/>
            <a:ext cx="1417320" cy="1325880"/>
          </a:xfrm>
          <a:prstGeom prst="rect">
            <a:avLst/>
          </a:prstGeom>
          <a:solidFill>
            <a:srgbClr val="0F1E3D"/>
          </a:solidFill>
          <a:ln w="8890">
            <a:solidFill>
              <a:srgbClr val="4DB8D0"/>
            </a:solidFill>
            <a:prstDash val="solid"/>
          </a:ln>
          <a:effectLst>
            <a:outerShdw blurRad="889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217920" y="2935224"/>
            <a:ext cx="1417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4DB8D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10K+</a:t>
            </a:r>
            <a:endParaRPr lang="en-US" sz="3400" dirty="0"/>
          </a:p>
        </p:txBody>
      </p:sp>
      <p:sp>
        <p:nvSpPr>
          <p:cNvPr id="17" name="Text 15"/>
          <p:cNvSpPr/>
          <p:nvPr/>
        </p:nvSpPr>
        <p:spPr>
          <a:xfrm>
            <a:off x="6217920" y="3648456"/>
            <a:ext cx="1417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Records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7772400" y="2770632"/>
            <a:ext cx="1417320" cy="1325880"/>
          </a:xfrm>
          <a:prstGeom prst="rect">
            <a:avLst/>
          </a:prstGeom>
          <a:solidFill>
            <a:srgbClr val="0F1E3D"/>
          </a:solidFill>
          <a:ln w="8890">
            <a:solidFill>
              <a:srgbClr val="E8B96A"/>
            </a:solidFill>
            <a:prstDash val="solid"/>
          </a:ln>
          <a:effectLst>
            <a:outerShdw blurRad="889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7772400" y="2935224"/>
            <a:ext cx="1417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E8B96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3400" dirty="0"/>
          </a:p>
        </p:txBody>
      </p:sp>
      <p:sp>
        <p:nvSpPr>
          <p:cNvPr id="20" name="Text 18"/>
          <p:cNvSpPr/>
          <p:nvPr/>
        </p:nvSpPr>
        <p:spPr>
          <a:xfrm>
            <a:off x="7772400" y="3648456"/>
            <a:ext cx="1417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Cities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0" y="4773168"/>
            <a:ext cx="9144000" cy="36576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65760" y="4791456"/>
            <a:ext cx="84124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EstateIQ  ·  AI Real Estate Valuation POC  ·  Python · scikit-learn · Streamlit · Plotly · seaborn · 2024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1961</Words>
  <Application>Microsoft Office PowerPoint</Application>
  <PresentationFormat>On-screen Show (16:9)</PresentationFormat>
  <Paragraphs>342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8" baseType="lpstr">
      <vt:lpstr>Arial</vt:lpstr>
      <vt:lpstr>Calibri</vt:lpstr>
      <vt:lpstr>Cambria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AI-Based Real Estate Valuation System</dc:title>
  <dc:subject>PptxGenJS Presentation</dc:subject>
  <dc:creator>PptxGenJS</dc:creator>
  <cp:lastModifiedBy>Harish Ganesan</cp:lastModifiedBy>
  <cp:revision>3</cp:revision>
  <dcterms:created xsi:type="dcterms:W3CDTF">2026-05-28T09:34:28Z</dcterms:created>
  <dcterms:modified xsi:type="dcterms:W3CDTF">2026-05-28T10:28:00Z</dcterms:modified>
</cp:coreProperties>
</file>