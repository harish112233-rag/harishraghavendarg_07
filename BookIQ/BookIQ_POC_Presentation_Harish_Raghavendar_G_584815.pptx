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36576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2743200"/>
          </a:xfrm>
          <a:prstGeom prst="ellipse">
            <a:avLst/>
          </a:prstGeom>
          <a:solidFill>
            <a:srgbClr val="4A1A99">
              <a:alpha val="22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320040"/>
            <a:ext cx="1280160" cy="1280160"/>
          </a:xfrm>
          <a:prstGeom prst="ellipse">
            <a:avLst/>
          </a:prstGeom>
          <a:solidFill>
            <a:srgbClr val="7B2FFF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0" y="347472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BookIQ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Book Summarization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Extractive Summarization · ROUGE Evaluation · Streamlit · SQLite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3858768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858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30552" y="3858768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3858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74136" y="3858768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3858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3858768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858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61304" y="3858768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61304" y="3858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04888" y="3858768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7B2FFF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4888" y="3858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43434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343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27432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BookIQ — What &amp; Why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BookIQ is an AI-powered Proof-of-Concept platform that transforms long-form books into concise, structured summaries using Natural Language Processing.
</a:t>
            </a:r>
            <a:pPr indent="0" marL="0">
              <a:buNone/>
            </a:pPr>
            <a:r>
              <a:rPr lang="en-US" sz="12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accepts text files or PDFs, cleans and chunks the content, applies TF-IDF extractive summarization, extracts key ideas and keywords, and evaluates quality with ROUGE-1 scores — all served through a Streamlit web application with role-based authentication.
</a:t>
            </a:r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2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Information Extraction
</a:t>
            </a:r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2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NLTK · Streamlit · SQLite · Plotly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4721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837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Processable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69480" y="96012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1051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69480" y="14721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1837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Algorithm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2532888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2624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0449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69480" y="2532888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2624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30449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4041648"/>
          </a:xfrm>
          <a:prstGeom prst="roundRect">
            <a:avLst>
              <a:gd name="adj" fmla="val 4667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2743200" cy="347472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298448"/>
            <a:ext cx="252374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RBAC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(Summarize · Library · Analytics · Admin)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2862072"/>
            <a:ext cx="164592" cy="0"/>
          </a:xfrm>
          <a:prstGeom prst="line">
            <a:avLst/>
          </a:prstGeom>
          <a:noFill/>
          <a:ln w="25400">
            <a:solidFill>
              <a:srgbClr val="7B2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841248"/>
            <a:ext cx="2743200" cy="4041648"/>
          </a:xfrm>
          <a:prstGeom prst="roundRect">
            <a:avLst>
              <a:gd name="adj" fmla="val 4667"/>
            </a:avLst>
          </a:prstGeom>
          <a:solidFill>
            <a:srgbClr val="1611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41248"/>
            <a:ext cx="2743200" cy="34747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82696" y="1298448"/>
            <a:ext cx="252374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nlp_engine.py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&amp; Chunking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Sentence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Key Idea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Evaluation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34456" y="2862072"/>
            <a:ext cx="164592" cy="0"/>
          </a:xfrm>
          <a:prstGeom prst="line">
            <a:avLst/>
          </a:prstGeom>
          <a:noFill/>
          <a:ln w="25400">
            <a:solidFill>
              <a:srgbClr val="7B2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841248"/>
            <a:ext cx="2743200" cy="4041648"/>
          </a:xfrm>
          <a:prstGeom prst="roundRect">
            <a:avLst>
              <a:gd name="adj" fmla="val 4667"/>
            </a:avLst>
          </a:prstGeom>
          <a:solidFill>
            <a:srgbClr val="1611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841248"/>
            <a:ext cx="2743200" cy="34747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27064" y="1298448"/>
            <a:ext cx="252374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— SQLite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Tables: users · books · summaries · access_logs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Text Becomes a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1261872" cy="1828800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694944"/>
            <a:ext cx="329184" cy="32918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94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6032" y="14447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" y="1737360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PDF / Paste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17904" y="1828800"/>
            <a:ext cx="155448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3352" y="914400"/>
            <a:ext cx="1261872" cy="1828800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694944"/>
            <a:ext cx="329184" cy="32918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694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73352" y="10058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73352" y="14447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28216" y="1737360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unicode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whitespace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language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35224" y="1828800"/>
            <a:ext cx="155448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90672" y="914400"/>
            <a:ext cx="1261872" cy="1828800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694944"/>
            <a:ext cx="329184" cy="32918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694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90672" y="10058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090672" y="14447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45536" y="1737360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800-word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chunks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(80-word overlap)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52544" y="1828800"/>
            <a:ext cx="155448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914400"/>
            <a:ext cx="1261872" cy="1828800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694944"/>
            <a:ext cx="329184" cy="32918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694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07992" y="10058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07992" y="14447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62856" y="1737360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word freq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ranking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selection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9864" y="1828800"/>
            <a:ext cx="155448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5312" y="914400"/>
            <a:ext cx="1261872" cy="1828800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694944"/>
            <a:ext cx="329184" cy="32918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694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25312" y="10058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925312" y="14447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80176" y="1737360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chunk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into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87184" y="1828800"/>
            <a:ext cx="155448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2632" y="914400"/>
            <a:ext cx="1261872" cy="1828800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18120" y="694944"/>
            <a:ext cx="329184" cy="32918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694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42632" y="10058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342632" y="14447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97496" y="1737360"/>
            <a:ext cx="1152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(top-10)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(top-5)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F1 score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4400" y="301752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7B2FFF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algn="ctr" indent="0" marL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Text  ·  Key Ideas (×5)  ·  Keywords (×10)  ·  ROUGE-1 F1 Score  ·  Compression %  ·  Stored in SQLite DB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Layout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32688"/>
            <a:ext cx="493776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BookIQ/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 streamlit/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app.py              ← Full web application (4 pages)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 scripts/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nlp_engine.py       ← NLP core — clean, chunk, TF-IDF, ROUGE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db.py               ← SQLite layer — users, books, summaries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 sample_books/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sherlock_holmes.txt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great_expectations.txt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 database/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bookiq.db           ← Auto-created SQLite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 requirements.txt   ← 6 Python dependencies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 README.md          ← Full setup guide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200400" cy="1261872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923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923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~1,254 lines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79008" y="124358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with login, 4 pages, custom purple UI, charts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322576"/>
            <a:ext cx="3200400" cy="1261872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2322576"/>
            <a:ext cx="3200400" cy="27432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331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nlp_engine.py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 lines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79008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engine — clean, chunk, score, summarize, ROUGE-1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730752"/>
            <a:ext cx="3200400" cy="1261872"/>
          </a:xfrm>
          <a:prstGeom prst="roundRect">
            <a:avLst>
              <a:gd name="adj" fmla="val 7246"/>
            </a:avLst>
          </a:prstGeom>
          <a:solidFill>
            <a:srgbClr val="1611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3730752"/>
            <a:ext cx="3200400" cy="274320"/>
          </a:xfrm>
          <a:prstGeom prst="rect">
            <a:avLst/>
          </a:prstGeom>
          <a:solidFill>
            <a:srgbClr val="34D399">
              <a:alpha val="3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0" y="3739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lines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79008" y="405993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schema, CRUD for users/books/summaries, access logs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BookIQ Delivers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112A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64008" cy="1600200"/>
          </a:xfrm>
          <a:prstGeom prst="rect">
            <a:avLst/>
          </a:prstGeom>
          <a:solidFill>
            <a:srgbClr val="FB923C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" y="1060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5544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hashed passwords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 roles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896112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896112"/>
            <a:ext cx="64008" cy="1600200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67328" y="1060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5544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.txt or .pdf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directly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sample books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896112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112A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896112"/>
            <a:ext cx="64008" cy="1600200"/>
          </a:xfrm>
          <a:prstGeom prst="rect">
            <a:avLst/>
          </a:prstGeom>
          <a:solidFill>
            <a:srgbClr val="A855F7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01968" y="1060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Summarizer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08192" y="15544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sentence scoring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with overlap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/ Medium / Detailed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6090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112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660904"/>
            <a:ext cx="64008" cy="1600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268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Extraction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331927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diverse ideas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deduplication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or bullets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66090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11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660904"/>
            <a:ext cx="64008" cy="1600200"/>
          </a:xfrm>
          <a:prstGeom prst="rect">
            <a:avLst/>
          </a:prstGeom>
          <a:solidFill>
            <a:srgbClr val="34D399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76732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Evaluation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3552" y="331927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Auto-computed per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database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66090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11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2660904"/>
            <a:ext cx="64008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60196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08192" y="331927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 charts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trends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history table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4-Table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20240" cy="1956816"/>
          </a:xfrm>
          <a:prstGeom prst="roundRect">
            <a:avLst>
              <a:gd name="adj" fmla="val 4762"/>
            </a:avLst>
          </a:prstGeom>
          <a:solidFill>
            <a:srgbClr val="16112A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920240" cy="384048"/>
          </a:xfrm>
          <a:prstGeom prst="rect">
            <a:avLst/>
          </a:prstGeom>
          <a:solidFill>
            <a:srgbClr val="FB923C">
              <a:alpha val="4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" y="1261872"/>
            <a:ext cx="1847088" cy="274320"/>
          </a:xfrm>
          <a:prstGeom prst="rect">
            <a:avLst/>
          </a:prstGeom>
          <a:solidFill>
            <a:srgbClr val="FB923C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UNIQUE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" y="1847088"/>
            <a:ext cx="1847088" cy="274320"/>
          </a:xfrm>
          <a:prstGeom prst="rect">
            <a:avLst/>
          </a:prstGeom>
          <a:solidFill>
            <a:srgbClr val="FB923C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1396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" y="2432304"/>
            <a:ext cx="1847088" cy="274320"/>
          </a:xfrm>
          <a:prstGeom prst="rect">
            <a:avLst/>
          </a:prstGeom>
          <a:solidFill>
            <a:srgbClr val="FB923C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32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0592" y="822960"/>
            <a:ext cx="1920240" cy="3127248"/>
          </a:xfrm>
          <a:prstGeom prst="roundRect">
            <a:avLst>
              <a:gd name="adj" fmla="val 4762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822960"/>
            <a:ext cx="1920240" cy="384048"/>
          </a:xfrm>
          <a:prstGeom prst="rect">
            <a:avLst/>
          </a:prstGeom>
          <a:solidFill>
            <a:srgbClr val="7B2FFF">
              <a:alpha val="4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822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87168" y="1261872"/>
            <a:ext cx="1847088" cy="27432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42032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87168" y="1847088"/>
            <a:ext cx="1847088" cy="27432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42032" y="21396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87168" y="2432304"/>
            <a:ext cx="1847088" cy="27432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432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42032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3017520"/>
            <a:ext cx="1847088" cy="27432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3017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word_count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42032" y="33101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87168" y="3602736"/>
            <a:ext cx="1847088" cy="27432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36027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822960"/>
            <a:ext cx="1920240" cy="3127248"/>
          </a:xfrm>
          <a:prstGeom prst="roundRect">
            <a:avLst>
              <a:gd name="adj" fmla="val 4762"/>
            </a:avLst>
          </a:prstGeom>
          <a:solidFill>
            <a:srgbClr val="1611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26864" y="822960"/>
            <a:ext cx="1920240" cy="384048"/>
          </a:xfrm>
          <a:prstGeom prst="rect">
            <a:avLst/>
          </a:prstGeom>
          <a:solidFill>
            <a:srgbClr val="34D399">
              <a:alpha val="4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822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261872"/>
            <a:ext cx="1847088" cy="274320"/>
          </a:xfrm>
          <a:prstGeom prst="rect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18304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book_id FK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847088"/>
            <a:ext cx="1847088" cy="274320"/>
          </a:xfrm>
          <a:prstGeom prst="rect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18304" y="21396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summary_text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432304"/>
            <a:ext cx="1847088" cy="274320"/>
          </a:xfrm>
          <a:prstGeom prst="rect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432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key_ideas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017520"/>
            <a:ext cx="1847088" cy="274320"/>
          </a:xfrm>
          <a:prstGeom prst="rect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017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rouge_f1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18304" y="33101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602736"/>
            <a:ext cx="1847088" cy="274320"/>
          </a:xfrm>
          <a:prstGeom prst="rect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36027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03136" y="822960"/>
            <a:ext cx="1920240" cy="1956816"/>
          </a:xfrm>
          <a:prstGeom prst="roundRect">
            <a:avLst>
              <a:gd name="adj" fmla="val 4762"/>
            </a:avLst>
          </a:prstGeom>
          <a:solidFill>
            <a:srgbClr val="1611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03136" y="822960"/>
            <a:ext cx="1920240" cy="38404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3136" y="822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access_logs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39712" y="1261872"/>
            <a:ext cx="1847088" cy="274320"/>
          </a:xfrm>
          <a:prstGeom prst="rect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94576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39712" y="1847088"/>
            <a:ext cx="1847088" cy="274320"/>
          </a:xfrm>
          <a:prstGeom prst="rect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94576" y="21396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39712" y="2432304"/>
            <a:ext cx="1847088" cy="274320"/>
          </a:xfrm>
          <a:prstGeom prst="rect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4576" y="2432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algn="ctr"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Primary Key    </a:t>
            </a:r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algn="ctr" indent="0" marL="0">
              <a:buNone/>
            </a:pPr>
            <a:r>
              <a:rPr lang="en-US" sz="10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Foreign Key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Application Pages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16112A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41248"/>
            <a:ext cx="2011680" cy="438912"/>
          </a:xfrm>
          <a:prstGeom prst="rect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41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828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animated logo 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6-item feature grid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 display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32304" y="841248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841248"/>
            <a:ext cx="2011680" cy="438912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841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Summarize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371600"/>
            <a:ext cx="1828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Paste / Sample tabs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settings (length, style, chunk)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strip (6 KPIs)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+ keyword cloud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08576" y="841248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1611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841248"/>
            <a:ext cx="2011680" cy="43891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41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My Library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1371600"/>
            <a:ext cx="1828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title/author/tag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book cards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summary display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&amp; download export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84848" y="841248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1611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841248"/>
            <a:ext cx="2011680" cy="43891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841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1371600"/>
            <a:ext cx="1828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bar chart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% chart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preference pie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4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bar chart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4645152"/>
            <a:ext cx="8631936" cy="320040"/>
          </a:xfrm>
          <a:prstGeom prst="roundRect">
            <a:avLst>
              <a:gd name="adj" fmla="val 22857"/>
            </a:avLst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645152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Panel (admin role only): User management · All-books view · Full access logs table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12A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Libraries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7744" y="914400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" y="10058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0896" y="14081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7190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0592" y="10058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23744" y="14081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3.8+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17190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0058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36592" y="14081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(custom engine)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7190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76288" y="914400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10058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14081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1.32+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7190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" y="2304288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37744" y="239572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10896" y="279806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" y="31089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50592" y="2304288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50592" y="239572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523744" y="279806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 (built-in)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23744" y="31089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304288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239572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736592" y="279806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+ RBAC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31089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76288" y="2304288"/>
            <a:ext cx="2029968" cy="1188720"/>
          </a:xfrm>
          <a:prstGeom prst="roundRect">
            <a:avLst>
              <a:gd name="adj" fmla="val 7692"/>
            </a:avLst>
          </a:prstGeom>
          <a:solidFill>
            <a:srgbClr val="16112A"/>
          </a:solidFill>
          <a:ln w="12700">
            <a:solidFill>
              <a:srgbClr val="8B7A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76288" y="239572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49440" y="279806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(optional)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31089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Support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4A1A99">
              <a:alpha val="20000"/>
            </a:srgbClr>
          </a:solidFill>
          <a:ln w="12700">
            <a:solidFill>
              <a:srgbClr val="0E0B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274320"/>
            <a:ext cx="1280160" cy="1280160"/>
          </a:xfrm>
          <a:prstGeom prst="ellipse">
            <a:avLst/>
          </a:prstGeom>
          <a:solidFill>
            <a:srgbClr val="7B2FFF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0" y="292608"/>
            <a:ext cx="1280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BookIQ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Complete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Login &amp; RBAC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8416" y="3127248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NLP Summarization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08192" y="3127248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ROUGE-1 Evaluation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02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SQLite Database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28416" y="3602736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3602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Analytics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08192" y="3602736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3602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Download &amp; Export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608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NLTK · Streamlit · Plotly · SQLite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BookIQ — Intelligent Book Summarization Platform</dc:title>
  <dc:subject>PptxGenJS Presentation</dc:subject>
  <dc:creator>BookIQ POC</dc:creator>
  <cp:lastModifiedBy>BookIQ POC</cp:lastModifiedBy>
  <cp:revision>1</cp:revision>
  <dcterms:created xsi:type="dcterms:W3CDTF">2026-06-02T03:33:34Z</dcterms:created>
  <dcterms:modified xsi:type="dcterms:W3CDTF">2026-06-02T03:33:34Z</dcterms:modified>
</cp:coreProperties>
</file>